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19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764" r:id="rId1"/>
  </p:sldMasterIdLst>
  <p:sldIdLst>
    <p:sldId id="256" r:id="rId2"/>
    <p:sldId id="257" r:id="rId3"/>
    <p:sldId id="259" r:id="rId4"/>
    <p:sldId id="260" r:id="rId5"/>
    <p:sldId id="261" r:id="rId6"/>
    <p:sldId id="262" r:id="rId7"/>
    <p:sldId id="263" r:id="rId8"/>
    <p:sldId id="264" r:id="rId9"/>
    <p:sldId id="265" r:id="rId10"/>
    <p:sldId id="266" r:id="rId11"/>
    <p:sldId id="267" r:id="rId12"/>
    <p:sldId id="268" r:id="rId13"/>
    <p:sldId id="269" r:id="rId14"/>
    <p:sldId id="270" r:id="rId15"/>
    <p:sldId id="271" r:id="rId16"/>
    <p:sldId id="272" r:id="rId17"/>
    <p:sldId id="273" r:id="rId18"/>
    <p:sldId id="274" r:id="rId19"/>
    <p:sldId id="276" r:id="rId20"/>
    <p:sldId id="277" r:id="rId21"/>
    <p:sldId id="278" r:id="rId22"/>
    <p:sldId id="279" r:id="rId23"/>
    <p:sldId id="280" r:id="rId24"/>
    <p:sldId id="281" r:id="rId25"/>
    <p:sldId id="282" r:id="rId26"/>
    <p:sldId id="283" r:id="rId27"/>
    <p:sldId id="284" r:id="rId28"/>
    <p:sldId id="285" r:id="rId29"/>
    <p:sldId id="286" r:id="rId30"/>
    <p:sldId id="287" r:id="rId31"/>
    <p:sldId id="288" r:id="rId32"/>
    <p:sldId id="289" r:id="rId33"/>
    <p:sldId id="290" r:id="rId34"/>
    <p:sldId id="275" r:id="rId35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4995" autoAdjust="0"/>
    <p:restoredTop sz="94660"/>
  </p:normalViewPr>
  <p:slideViewPr>
    <p:cSldViewPr snapToGrid="0">
      <p:cViewPr varScale="1">
        <p:scale>
          <a:sx n="78" d="100"/>
          <a:sy n="78" d="100"/>
        </p:scale>
        <p:origin x="878" y="67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9" Type="http://schemas.openxmlformats.org/officeDocument/2006/relationships/tableStyles" Target="tableStyles.xml"/><Relationship Id="rId21" Type="http://schemas.openxmlformats.org/officeDocument/2006/relationships/slide" Target="slides/slide20.xml"/><Relationship Id="rId34" Type="http://schemas.openxmlformats.org/officeDocument/2006/relationships/slide" Target="slides/slide33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slide" Target="slides/slide32.xml"/><Relationship Id="rId38" Type="http://schemas.openxmlformats.org/officeDocument/2006/relationships/theme" Target="theme/theme1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slide" Target="slides/slide28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slide" Target="slides/slide31.xml"/><Relationship Id="rId37" Type="http://schemas.openxmlformats.org/officeDocument/2006/relationships/viewProps" Target="viewProps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36" Type="http://schemas.openxmlformats.org/officeDocument/2006/relationships/presProps" Target="presProps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slide" Target="slides/slide30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slide" Target="slides/slide29.xml"/><Relationship Id="rId35" Type="http://schemas.openxmlformats.org/officeDocument/2006/relationships/slide" Target="slides/slide34.xml"/><Relationship Id="rId8" Type="http://schemas.openxmlformats.org/officeDocument/2006/relationships/slide" Target="slides/slide7.xml"/><Relationship Id="rId3" Type="http://schemas.openxmlformats.org/officeDocument/2006/relationships/slide" Target="slides/slide2.xml"/></Relationships>
</file>

<file path=ppt/slideLayouts/_rels/slideLayout1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17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1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Picture 6" descr="Droplets-HD-Title-R1d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751012" y="1300785"/>
            <a:ext cx="8689976" cy="2509213"/>
          </a:xfrm>
        </p:spPr>
        <p:txBody>
          <a:bodyPr anchor="b">
            <a:normAutofit/>
          </a:bodyPr>
          <a:lstStyle>
            <a:lvl1pPr algn="ctr">
              <a:defRPr sz="48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751012" y="3886200"/>
            <a:ext cx="8689976" cy="1371599"/>
          </a:xfrm>
        </p:spPr>
        <p:txBody>
          <a:bodyPr>
            <a:normAutofit/>
          </a:bodyPr>
          <a:lstStyle>
            <a:lvl1pPr marL="0" indent="0" algn="ctr">
              <a:buNone/>
              <a:defRPr sz="2200">
                <a:solidFill>
                  <a:schemeClr val="bg1">
                    <a:lumMod val="50000"/>
                  </a:schemeClr>
                </a:solidFill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BE96208-09BF-4CFA-8F9F-70DF31B5C050}" type="datetimeFigureOut">
              <a:rPr lang="en-IN" smtClean="0"/>
              <a:t>30-01-2026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FC33AA3-0DEC-4B82-9BA7-CF82562B0E8C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898845420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 descr="Droplets-HD-Content-R1d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12" name="Content Placeholder 2"/>
          <p:cNvSpPr>
            <a:spLocks noGrp="1"/>
          </p:cNvSpPr>
          <p:nvPr>
            <p:ph sz="quarter" idx="13"/>
          </p:nvPr>
        </p:nvSpPr>
        <p:spPr>
          <a:xfrm>
            <a:off x="913774" y="2367092"/>
            <a:ext cx="10363826" cy="3424107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BE96208-09BF-4CFA-8F9F-70DF31B5C050}" type="datetimeFigureOut">
              <a:rPr lang="en-IN" smtClean="0"/>
              <a:t>30-01-2026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FC33AA3-0DEC-4B82-9BA7-CF82562B0E8C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030846056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" name="Picture 8" descr="Droplets-HD-Content-R1d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13774" y="828563"/>
            <a:ext cx="10351752" cy="2736819"/>
          </a:xfrm>
        </p:spPr>
        <p:txBody>
          <a:bodyPr anchor="b">
            <a:normAutofit/>
          </a:bodyPr>
          <a:lstStyle>
            <a:lvl1pPr>
              <a:defRPr sz="40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913774" y="3657457"/>
            <a:ext cx="10351752" cy="1368183"/>
          </a:xfrm>
        </p:spPr>
        <p:txBody>
          <a:bodyPr>
            <a:normAutofit/>
          </a:bodyPr>
          <a:lstStyle>
            <a:lvl1pPr marL="0" indent="0" algn="ctr">
              <a:buNone/>
              <a:defRPr sz="2000">
                <a:solidFill>
                  <a:schemeClr val="bg1">
                    <a:lumMod val="50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BE96208-09BF-4CFA-8F9F-70DF31B5C050}" type="datetimeFigureOut">
              <a:rPr lang="en-IN" smtClean="0"/>
              <a:t>30-01-2026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FC33AA3-0DEC-4B82-9BA7-CF82562B0E8C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348678889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" name="Picture 9" descr="Droplets-HD-Content-R1d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14" name="Title 1"/>
          <p:cNvSpPr>
            <a:spLocks noGrp="1"/>
          </p:cNvSpPr>
          <p:nvPr>
            <p:ph type="title"/>
          </p:nvPr>
        </p:nvSpPr>
        <p:spPr>
          <a:xfrm>
            <a:off x="913775" y="618517"/>
            <a:ext cx="10364451" cy="1596177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12" name="Content Placeholder 2"/>
          <p:cNvSpPr>
            <a:spLocks noGrp="1"/>
          </p:cNvSpPr>
          <p:nvPr>
            <p:ph sz="quarter" idx="13"/>
          </p:nvPr>
        </p:nvSpPr>
        <p:spPr>
          <a:xfrm>
            <a:off x="913774" y="2367092"/>
            <a:ext cx="5106026" cy="3424107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13" name="Content Placeholder 3"/>
          <p:cNvSpPr>
            <a:spLocks noGrp="1"/>
          </p:cNvSpPr>
          <p:nvPr>
            <p:ph sz="quarter" idx="14"/>
          </p:nvPr>
        </p:nvSpPr>
        <p:spPr>
          <a:xfrm>
            <a:off x="6172200" y="2367092"/>
            <a:ext cx="5105400" cy="3424107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BE96208-09BF-4CFA-8F9F-70DF31B5C050}" type="datetimeFigureOut">
              <a:rPr lang="en-IN" smtClean="0"/>
              <a:t>30-01-2026</a:t>
            </a:fld>
            <a:endParaRPr lang="en-I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FC33AA3-0DEC-4B82-9BA7-CF82562B0E8C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86987809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5" name="Picture 14" descr="Droplets-HD-Content-R1d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14" name="Title 1"/>
          <p:cNvSpPr>
            <a:spLocks noGrp="1"/>
          </p:cNvSpPr>
          <p:nvPr>
            <p:ph type="title"/>
          </p:nvPr>
        </p:nvSpPr>
        <p:spPr>
          <a:xfrm>
            <a:off x="913775" y="618517"/>
            <a:ext cx="10364451" cy="1596177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146328" y="2371018"/>
            <a:ext cx="4873474" cy="679994"/>
          </a:xfrm>
        </p:spPr>
        <p:txBody>
          <a:bodyPr anchor="b">
            <a:noAutofit/>
          </a:bodyPr>
          <a:lstStyle>
            <a:lvl1pPr marL="0" indent="0">
              <a:lnSpc>
                <a:spcPct val="85000"/>
              </a:lnSpc>
              <a:buNone/>
              <a:defRPr sz="2600" b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2" name="Content Placeholder 3"/>
          <p:cNvSpPr>
            <a:spLocks noGrp="1"/>
          </p:cNvSpPr>
          <p:nvPr>
            <p:ph sz="quarter" idx="13"/>
          </p:nvPr>
        </p:nvSpPr>
        <p:spPr>
          <a:xfrm>
            <a:off x="913774" y="3051012"/>
            <a:ext cx="5106027" cy="2740187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396423" y="2371018"/>
            <a:ext cx="4881804" cy="679994"/>
          </a:xfrm>
        </p:spPr>
        <p:txBody>
          <a:bodyPr anchor="b">
            <a:noAutofit/>
          </a:bodyPr>
          <a:lstStyle>
            <a:lvl1pPr marL="0" indent="0">
              <a:lnSpc>
                <a:spcPct val="85000"/>
              </a:lnSpc>
              <a:buNone/>
              <a:defRPr sz="2600" b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3" name="Content Placeholder 5"/>
          <p:cNvSpPr>
            <a:spLocks noGrp="1"/>
          </p:cNvSpPr>
          <p:nvPr>
            <p:ph sz="quarter" idx="14"/>
          </p:nvPr>
        </p:nvSpPr>
        <p:spPr>
          <a:xfrm>
            <a:off x="6172200" y="3051012"/>
            <a:ext cx="5105401" cy="2740187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BE96208-09BF-4CFA-8F9F-70DF31B5C050}" type="datetimeFigureOut">
              <a:rPr lang="en-IN" smtClean="0"/>
              <a:t>30-01-2026</a:t>
            </a:fld>
            <a:endParaRPr lang="en-IN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FC33AA3-0DEC-4B82-9BA7-CF82562B0E8C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856413662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Picture 7" descr="Droplets-HD-Content-R1d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BE96208-09BF-4CFA-8F9F-70DF31B5C050}" type="datetimeFigureOut">
              <a:rPr lang="en-IN" smtClean="0"/>
              <a:t>30-01-2026</a:t>
            </a:fld>
            <a:endParaRPr lang="en-IN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FC33AA3-0DEC-4B82-9BA7-CF82562B0E8C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632074859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Picture 6" descr="Droplets-HD-Content-R1d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BE96208-09BF-4CFA-8F9F-70DF31B5C050}" type="datetimeFigureOut">
              <a:rPr lang="en-IN" smtClean="0"/>
              <a:t>30-01-2026</a:t>
            </a:fld>
            <a:endParaRPr lang="en-IN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FC33AA3-0DEC-4B82-9BA7-CF82562B0E8C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719266825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1" name="Picture 10" descr="Droplets-HD-Content-R1d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13775" y="609600"/>
            <a:ext cx="3935688" cy="2023252"/>
          </a:xfrm>
        </p:spPr>
        <p:txBody>
          <a:bodyPr anchor="b"/>
          <a:lstStyle>
            <a:lvl1pPr algn="ctr">
              <a:defRPr sz="32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10" name="Content Placeholder 2"/>
          <p:cNvSpPr>
            <a:spLocks noGrp="1"/>
          </p:cNvSpPr>
          <p:nvPr>
            <p:ph sz="quarter" idx="13"/>
          </p:nvPr>
        </p:nvSpPr>
        <p:spPr>
          <a:xfrm>
            <a:off x="5078062" y="609600"/>
            <a:ext cx="6200163" cy="5181599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913774" y="2632852"/>
            <a:ext cx="3935689" cy="3158348"/>
          </a:xfrm>
        </p:spPr>
        <p:txBody>
          <a:bodyPr/>
          <a:lstStyle>
            <a:lvl1pPr marL="0" indent="0" algn="ctr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BE96208-09BF-4CFA-8F9F-70DF31B5C050}" type="datetimeFigureOut">
              <a:rPr lang="en-IN" smtClean="0"/>
              <a:t>30-01-2026</a:t>
            </a:fld>
            <a:endParaRPr lang="en-I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FC33AA3-0DEC-4B82-9BA7-CF82562B0E8C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366878254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" name="Picture 9" descr="Droplets-HD-Content-R1d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13774" y="609600"/>
            <a:ext cx="5934969" cy="2023254"/>
          </a:xfrm>
        </p:spPr>
        <p:txBody>
          <a:bodyPr anchor="b"/>
          <a:lstStyle>
            <a:lvl1pPr algn="ctr">
              <a:defRPr sz="32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7424803" y="609601"/>
            <a:ext cx="3255358" cy="5181600"/>
          </a:xfrm>
          <a:prstGeom prst="roundRect">
            <a:avLst>
              <a:gd name="adj" fmla="val 4943"/>
            </a:avLst>
          </a:prstGeom>
          <a:noFill/>
          <a:ln w="82550" cap="sq">
            <a:solidFill>
              <a:srgbClr val="EAEAEA"/>
            </a:solidFill>
            <a:miter lim="800000"/>
          </a:ln>
          <a:effectLst/>
          <a:scene3d>
            <a:camera prst="orthographicFront"/>
            <a:lightRig rig="threePt" dir="t">
              <a:rot lat="0" lon="0" rev="2700000"/>
            </a:lightRig>
          </a:scene3d>
          <a:sp3d contourW="6350">
            <a:bevelT h="38100"/>
            <a:contourClr>
              <a:srgbClr val="C0C0C0"/>
            </a:contourClr>
          </a:sp3d>
        </p:spPr>
        <p:txBody>
          <a:bodyPr anchor="t"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913794" y="2632852"/>
            <a:ext cx="5934949" cy="3158347"/>
          </a:xfrm>
        </p:spPr>
        <p:txBody>
          <a:bodyPr/>
          <a:lstStyle>
            <a:lvl1pPr marL="0" indent="0" algn="ctr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BE96208-09BF-4CFA-8F9F-70DF31B5C050}" type="datetimeFigureOut">
              <a:rPr lang="en-IN" smtClean="0"/>
              <a:t>30-01-2026</a:t>
            </a:fld>
            <a:endParaRPr lang="en-I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FC33AA3-0DEC-4B82-9BA7-CF82562B0E8C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676846808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Panoramic 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" name="Picture 9" descr="Droplets-HD-Content-R1d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13794" y="4289374"/>
            <a:ext cx="10364432" cy="81161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1184744" y="698261"/>
            <a:ext cx="9822532" cy="3214136"/>
          </a:xfrm>
          <a:prstGeom prst="roundRect">
            <a:avLst>
              <a:gd name="adj" fmla="val 4944"/>
            </a:avLst>
          </a:prstGeom>
          <a:noFill/>
          <a:ln w="82550" cap="sq">
            <a:solidFill>
              <a:srgbClr val="EAEAEA"/>
            </a:solidFill>
            <a:miter lim="800000"/>
          </a:ln>
          <a:effectLst/>
          <a:scene3d>
            <a:camera prst="orthographicFront"/>
            <a:lightRig rig="threePt" dir="t">
              <a:rot lat="0" lon="0" rev="2700000"/>
            </a:lightRig>
          </a:scene3d>
          <a:sp3d contourW="6350">
            <a:bevelT h="38100"/>
            <a:contourClr>
              <a:srgbClr val="C0C0C0"/>
            </a:contourClr>
          </a:sp3d>
        </p:spPr>
        <p:txBody>
          <a:bodyPr anchor="t"/>
          <a:lstStyle>
            <a:lvl1pPr marL="0" indent="0" algn="ctr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913774" y="5108728"/>
            <a:ext cx="10364452" cy="682472"/>
          </a:xfrm>
        </p:spPr>
        <p:txBody>
          <a:bodyPr/>
          <a:lstStyle>
            <a:lvl1pPr marL="0" indent="0" algn="ctr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BE96208-09BF-4CFA-8F9F-70DF31B5C050}" type="datetimeFigureOut">
              <a:rPr lang="en-IN" smtClean="0"/>
              <a:t>30-01-2026</a:t>
            </a:fld>
            <a:endParaRPr lang="en-I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FC33AA3-0DEC-4B82-9BA7-CF82562B0E8C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495341981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 and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Picture 7" descr="Droplets-HD-Content-R1d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13774" y="609599"/>
            <a:ext cx="10364452" cy="3427245"/>
          </a:xfrm>
        </p:spPr>
        <p:txBody>
          <a:bodyPr anchor="ctr"/>
          <a:lstStyle>
            <a:lvl1pPr algn="ctr">
              <a:defRPr sz="32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913775" y="4204821"/>
            <a:ext cx="10364452" cy="1586380"/>
          </a:xfrm>
        </p:spPr>
        <p:txBody>
          <a:bodyPr anchor="ctr"/>
          <a:lstStyle>
            <a:lvl1pPr marL="0" indent="0" algn="ctr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BE96208-09BF-4CFA-8F9F-70DF31B5C050}" type="datetimeFigureOut">
              <a:rPr lang="en-IN" smtClean="0"/>
              <a:t>30-01-2026</a:t>
            </a:fld>
            <a:endParaRPr lang="en-I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FC33AA3-0DEC-4B82-9BA7-CF82562B0E8C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928861636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Quot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1" name="Picture 10" descr="Droplets-HD-Content-R1d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446212" y="609600"/>
            <a:ext cx="9302752" cy="2992904"/>
          </a:xfrm>
        </p:spPr>
        <p:txBody>
          <a:bodyPr anchor="ctr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12" name="Text Placeholder 3"/>
          <p:cNvSpPr>
            <a:spLocks noGrp="1"/>
          </p:cNvSpPr>
          <p:nvPr>
            <p:ph type="body" sz="half" idx="13"/>
          </p:nvPr>
        </p:nvSpPr>
        <p:spPr>
          <a:xfrm>
            <a:off x="1720644" y="3610032"/>
            <a:ext cx="8752299" cy="594788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913774" y="4372796"/>
            <a:ext cx="10364452" cy="1421053"/>
          </a:xfrm>
        </p:spPr>
        <p:txBody>
          <a:bodyPr anchor="ctr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BE96208-09BF-4CFA-8F9F-70DF31B5C050}" type="datetimeFigureOut">
              <a:rPr lang="en-IN" smtClean="0"/>
              <a:t>30-01-2026</a:t>
            </a:fld>
            <a:endParaRPr lang="en-I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FC33AA3-0DEC-4B82-9BA7-CF82562B0E8C}" type="slidenum">
              <a:rPr lang="en-IN" smtClean="0"/>
              <a:t>‹#›</a:t>
            </a:fld>
            <a:endParaRPr lang="en-IN"/>
          </a:p>
        </p:txBody>
      </p:sp>
      <p:sp>
        <p:nvSpPr>
          <p:cNvPr id="13" name="TextBox 12"/>
          <p:cNvSpPr txBox="1"/>
          <p:nvPr/>
        </p:nvSpPr>
        <p:spPr>
          <a:xfrm>
            <a:off x="1001488" y="754166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>
              <a:spcBef>
                <a:spcPct val="0"/>
              </a:spcBef>
              <a:buNone/>
              <a:defRPr sz="3200" b="0" cap="all">
                <a:ln w="3175" cmpd="sng">
                  <a:noFill/>
                </a:ln>
                <a:effectLst>
                  <a:glow rad="38100">
                    <a:schemeClr val="bg1">
                      <a:lumMod val="65000"/>
                      <a:lumOff val="35000"/>
                      <a:alpha val="40000"/>
                    </a:schemeClr>
                  </a:glow>
                  <a:outerShdw blurRad="28575" dist="38100" dir="14040000" algn="tl" rotWithShape="0">
                    <a:srgbClr val="000000">
                      <a:alpha val="25000"/>
                    </a:srgbClr>
                  </a:outerShdw>
                </a:effectLst>
              </a:defRPr>
            </a:lvl1pPr>
            <a:lvl2pPr>
              <a:defRPr>
                <a:solidFill>
                  <a:schemeClr val="tx2"/>
                </a:solidFill>
              </a:defRPr>
            </a:lvl2pPr>
            <a:lvl3pPr>
              <a:defRPr>
                <a:solidFill>
                  <a:schemeClr val="tx2"/>
                </a:solidFill>
              </a:defRPr>
            </a:lvl3pPr>
            <a:lvl4pPr>
              <a:defRPr>
                <a:solidFill>
                  <a:schemeClr val="tx2"/>
                </a:solidFill>
              </a:defRPr>
            </a:lvl4pPr>
            <a:lvl5pPr>
              <a:defRPr>
                <a:solidFill>
                  <a:schemeClr val="tx2"/>
                </a:solidFill>
              </a:defRPr>
            </a:lvl5pPr>
            <a:lvl6pPr>
              <a:defRPr>
                <a:solidFill>
                  <a:schemeClr val="tx2"/>
                </a:solidFill>
              </a:defRPr>
            </a:lvl6pPr>
            <a:lvl7pPr>
              <a:defRPr>
                <a:solidFill>
                  <a:schemeClr val="tx2"/>
                </a:solidFill>
              </a:defRPr>
            </a:lvl7pPr>
            <a:lvl8pPr>
              <a:defRPr>
                <a:solidFill>
                  <a:schemeClr val="tx2"/>
                </a:solidFill>
              </a:defRPr>
            </a:lvl8pPr>
            <a:lvl9pPr>
              <a:defRPr>
                <a:solidFill>
                  <a:schemeClr val="tx2"/>
                </a:solidFill>
              </a:defRPr>
            </a:lvl9pPr>
          </a:lstStyle>
          <a:p>
            <a:pPr lvl="0"/>
            <a:r>
              <a:rPr lang="en-US" sz="8000" dirty="0">
                <a:solidFill>
                  <a:schemeClr val="tx1"/>
                </a:solidFill>
                <a:effectLst/>
              </a:rPr>
              <a:t>“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0557558" y="2993578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>
              <a:spcBef>
                <a:spcPct val="0"/>
              </a:spcBef>
              <a:buNone/>
              <a:defRPr sz="3200" b="0" cap="all">
                <a:ln w="3175" cmpd="sng">
                  <a:noFill/>
                </a:ln>
                <a:effectLst>
                  <a:glow rad="38100">
                    <a:schemeClr val="bg1">
                      <a:lumMod val="65000"/>
                      <a:lumOff val="35000"/>
                      <a:alpha val="40000"/>
                    </a:schemeClr>
                  </a:glow>
                  <a:outerShdw blurRad="28575" dist="38100" dir="14040000" algn="tl" rotWithShape="0">
                    <a:srgbClr val="000000">
                      <a:alpha val="25000"/>
                    </a:srgbClr>
                  </a:outerShdw>
                </a:effectLst>
              </a:defRPr>
            </a:lvl1pPr>
            <a:lvl2pPr>
              <a:defRPr>
                <a:solidFill>
                  <a:schemeClr val="tx2"/>
                </a:solidFill>
              </a:defRPr>
            </a:lvl2pPr>
            <a:lvl3pPr>
              <a:defRPr>
                <a:solidFill>
                  <a:schemeClr val="tx2"/>
                </a:solidFill>
              </a:defRPr>
            </a:lvl3pPr>
            <a:lvl4pPr>
              <a:defRPr>
                <a:solidFill>
                  <a:schemeClr val="tx2"/>
                </a:solidFill>
              </a:defRPr>
            </a:lvl4pPr>
            <a:lvl5pPr>
              <a:defRPr>
                <a:solidFill>
                  <a:schemeClr val="tx2"/>
                </a:solidFill>
              </a:defRPr>
            </a:lvl5pPr>
            <a:lvl6pPr>
              <a:defRPr>
                <a:solidFill>
                  <a:schemeClr val="tx2"/>
                </a:solidFill>
              </a:defRPr>
            </a:lvl6pPr>
            <a:lvl7pPr>
              <a:defRPr>
                <a:solidFill>
                  <a:schemeClr val="tx2"/>
                </a:solidFill>
              </a:defRPr>
            </a:lvl7pPr>
            <a:lvl8pPr>
              <a:defRPr>
                <a:solidFill>
                  <a:schemeClr val="tx2"/>
                </a:solidFill>
              </a:defRPr>
            </a:lvl8pPr>
            <a:lvl9pPr>
              <a:defRPr>
                <a:solidFill>
                  <a:schemeClr val="tx2"/>
                </a:solidFill>
              </a:defRPr>
            </a:lvl9pPr>
          </a:lstStyle>
          <a:p>
            <a:pPr lvl="0" algn="r"/>
            <a:r>
              <a:rPr lang="en-US" sz="8000" dirty="0">
                <a:solidFill>
                  <a:schemeClr val="tx1"/>
                </a:solidFill>
                <a:effectLst/>
              </a:rPr>
              <a:t>”</a:t>
            </a:r>
          </a:p>
        </p:txBody>
      </p:sp>
    </p:spTree>
    <p:extLst>
      <p:ext uri="{BB962C8B-B14F-4D97-AF65-F5344CB8AC3E}">
        <p14:creationId xmlns:p14="http://schemas.microsoft.com/office/powerpoint/2010/main" val="1190833935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Name Card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Picture 7" descr="Droplets-HD-Content-R1d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13775" y="2138721"/>
            <a:ext cx="10364452" cy="2511835"/>
          </a:xfrm>
        </p:spPr>
        <p:txBody>
          <a:bodyPr anchor="b"/>
          <a:lstStyle>
            <a:lvl1pPr algn="ctr">
              <a:defRPr sz="32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913775" y="4662335"/>
            <a:ext cx="10364452" cy="1140644"/>
          </a:xfrm>
        </p:spPr>
        <p:txBody>
          <a:bodyPr anchor="t"/>
          <a:lstStyle>
            <a:lvl1pPr marL="0" indent="0" algn="ctr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BE96208-09BF-4CFA-8F9F-70DF31B5C050}" type="datetimeFigureOut">
              <a:rPr lang="en-IN" smtClean="0"/>
              <a:t>30-01-2026</a:t>
            </a:fld>
            <a:endParaRPr lang="en-I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FC33AA3-0DEC-4B82-9BA7-CF82562B0E8C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4237840042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3 Colum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3" name="Picture 12" descr="Droplets-HD-Content-R1d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15" name="Title 1"/>
          <p:cNvSpPr>
            <a:spLocks noGrp="1"/>
          </p:cNvSpPr>
          <p:nvPr>
            <p:ph type="title"/>
          </p:nvPr>
        </p:nvSpPr>
        <p:spPr>
          <a:xfrm>
            <a:off x="913774" y="609600"/>
            <a:ext cx="10364452" cy="1605094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7" name="Text Placeholder 2"/>
          <p:cNvSpPr>
            <a:spLocks noGrp="1"/>
          </p:cNvSpPr>
          <p:nvPr>
            <p:ph type="body" idx="1"/>
          </p:nvPr>
        </p:nvSpPr>
        <p:spPr>
          <a:xfrm>
            <a:off x="913774" y="2367093"/>
            <a:ext cx="3298976" cy="576262"/>
          </a:xfrm>
        </p:spPr>
        <p:txBody>
          <a:bodyPr anchor="b">
            <a:noAutofit/>
          </a:bodyPr>
          <a:lstStyle>
            <a:lvl1pPr marL="0" indent="0" algn="ctr">
              <a:lnSpc>
                <a:spcPct val="85000"/>
              </a:lnSpc>
              <a:buNone/>
              <a:defRPr sz="2400" b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8" name="Text Placeholder 3"/>
          <p:cNvSpPr>
            <a:spLocks noGrp="1"/>
          </p:cNvSpPr>
          <p:nvPr>
            <p:ph type="body" sz="half" idx="15"/>
          </p:nvPr>
        </p:nvSpPr>
        <p:spPr>
          <a:xfrm>
            <a:off x="913774" y="2943355"/>
            <a:ext cx="3298976" cy="2847845"/>
          </a:xfrm>
        </p:spPr>
        <p:txBody>
          <a:bodyPr anchor="t">
            <a:normAutofit/>
          </a:bodyPr>
          <a:lstStyle>
            <a:lvl1pPr marL="0" indent="0" algn="ctr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9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452389" y="2367093"/>
            <a:ext cx="3291521" cy="576262"/>
          </a:xfrm>
        </p:spPr>
        <p:txBody>
          <a:bodyPr anchor="b">
            <a:noAutofit/>
          </a:bodyPr>
          <a:lstStyle>
            <a:lvl1pPr marL="0" indent="0" algn="ctr">
              <a:lnSpc>
                <a:spcPct val="85000"/>
              </a:lnSpc>
              <a:buNone/>
              <a:defRPr sz="2400" b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0" name="Text Placeholder 3"/>
          <p:cNvSpPr>
            <a:spLocks noGrp="1"/>
          </p:cNvSpPr>
          <p:nvPr>
            <p:ph type="body" sz="half" idx="16"/>
          </p:nvPr>
        </p:nvSpPr>
        <p:spPr>
          <a:xfrm>
            <a:off x="4441348" y="2943355"/>
            <a:ext cx="3303351" cy="2847845"/>
          </a:xfrm>
        </p:spPr>
        <p:txBody>
          <a:bodyPr anchor="t">
            <a:normAutofit/>
          </a:bodyPr>
          <a:lstStyle>
            <a:lvl1pPr marL="0" indent="0" algn="ctr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1" name="Text Placeholder 4"/>
          <p:cNvSpPr>
            <a:spLocks noGrp="1"/>
          </p:cNvSpPr>
          <p:nvPr>
            <p:ph type="body" sz="quarter" idx="13"/>
          </p:nvPr>
        </p:nvSpPr>
        <p:spPr>
          <a:xfrm>
            <a:off x="7973298" y="2367093"/>
            <a:ext cx="3304928" cy="576262"/>
          </a:xfrm>
        </p:spPr>
        <p:txBody>
          <a:bodyPr anchor="b">
            <a:noAutofit/>
          </a:bodyPr>
          <a:lstStyle>
            <a:lvl1pPr marL="0" indent="0" algn="ctr">
              <a:lnSpc>
                <a:spcPct val="85000"/>
              </a:lnSpc>
              <a:buNone/>
              <a:defRPr sz="2400" b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2" name="Text Placeholder 3"/>
          <p:cNvSpPr>
            <a:spLocks noGrp="1"/>
          </p:cNvSpPr>
          <p:nvPr>
            <p:ph type="body" sz="half" idx="17"/>
          </p:nvPr>
        </p:nvSpPr>
        <p:spPr>
          <a:xfrm>
            <a:off x="7973298" y="2943355"/>
            <a:ext cx="3304928" cy="2847845"/>
          </a:xfrm>
        </p:spPr>
        <p:txBody>
          <a:bodyPr anchor="t">
            <a:normAutofit/>
          </a:bodyPr>
          <a:lstStyle>
            <a:lvl1pPr marL="0" indent="0" algn="ctr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BE96208-09BF-4CFA-8F9F-70DF31B5C050}" type="datetimeFigureOut">
              <a:rPr lang="en-IN" smtClean="0"/>
              <a:t>30-01-2026</a:t>
            </a:fld>
            <a:endParaRPr lang="en-IN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FC33AA3-0DEC-4B82-9BA7-CF82562B0E8C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849843758"/>
      </p:ext>
    </p:extLst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3 Picture Colum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6" name="Picture 15" descr="Droplets-HD-Content-R1d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30" name="Title 1"/>
          <p:cNvSpPr>
            <a:spLocks noGrp="1"/>
          </p:cNvSpPr>
          <p:nvPr>
            <p:ph type="title"/>
          </p:nvPr>
        </p:nvSpPr>
        <p:spPr>
          <a:xfrm>
            <a:off x="913774" y="610772"/>
            <a:ext cx="10364452" cy="1603922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19" name="Text Placeholder 2"/>
          <p:cNvSpPr>
            <a:spLocks noGrp="1"/>
          </p:cNvSpPr>
          <p:nvPr>
            <p:ph type="body" idx="1"/>
          </p:nvPr>
        </p:nvSpPr>
        <p:spPr>
          <a:xfrm>
            <a:off x="913774" y="4204820"/>
            <a:ext cx="3296409" cy="576262"/>
          </a:xfrm>
        </p:spPr>
        <p:txBody>
          <a:bodyPr anchor="b">
            <a:noAutofit/>
          </a:bodyPr>
          <a:lstStyle>
            <a:lvl1pPr marL="0" indent="0" algn="ctr">
              <a:lnSpc>
                <a:spcPct val="85000"/>
              </a:lnSpc>
              <a:buNone/>
              <a:defRPr sz="2200" b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0" name="Picture Placeholder 2"/>
          <p:cNvSpPr>
            <a:spLocks noGrp="1" noChangeAspect="1"/>
          </p:cNvSpPr>
          <p:nvPr>
            <p:ph type="pic" idx="15"/>
          </p:nvPr>
        </p:nvSpPr>
        <p:spPr>
          <a:xfrm>
            <a:off x="913774" y="2367093"/>
            <a:ext cx="3296409" cy="1524000"/>
          </a:xfrm>
          <a:prstGeom prst="roundRect">
            <a:avLst>
              <a:gd name="adj" fmla="val 9363"/>
            </a:avLst>
          </a:prstGeom>
          <a:noFill/>
          <a:ln w="82550" cap="sq">
            <a:solidFill>
              <a:srgbClr val="EAEAEA"/>
            </a:solidFill>
            <a:miter lim="800000"/>
          </a:ln>
          <a:effectLst/>
          <a:scene3d>
            <a:camera prst="orthographicFront"/>
            <a:lightRig rig="threePt" dir="t">
              <a:rot lat="0" lon="0" rev="2700000"/>
            </a:lightRig>
          </a:scene3d>
          <a:sp3d contourW="6350">
            <a:bevelT h="38100"/>
            <a:contourClr>
              <a:srgbClr val="C0C0C0"/>
            </a:contourClr>
          </a:sp3d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21" name="Text Placeholder 3"/>
          <p:cNvSpPr>
            <a:spLocks noGrp="1"/>
          </p:cNvSpPr>
          <p:nvPr>
            <p:ph type="body" sz="half" idx="18"/>
          </p:nvPr>
        </p:nvSpPr>
        <p:spPr>
          <a:xfrm>
            <a:off x="913774" y="4781082"/>
            <a:ext cx="3296409" cy="1010118"/>
          </a:xfrm>
        </p:spPr>
        <p:txBody>
          <a:bodyPr anchor="t">
            <a:normAutofit/>
          </a:bodyPr>
          <a:lstStyle>
            <a:lvl1pPr marL="0" indent="0" algn="ctr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2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442759" y="4204820"/>
            <a:ext cx="3301828" cy="576262"/>
          </a:xfrm>
        </p:spPr>
        <p:txBody>
          <a:bodyPr anchor="b">
            <a:noAutofit/>
          </a:bodyPr>
          <a:lstStyle>
            <a:lvl1pPr marL="0" indent="0" algn="ctr">
              <a:lnSpc>
                <a:spcPct val="85000"/>
              </a:lnSpc>
              <a:buNone/>
              <a:defRPr sz="2200" b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3" name="Picture Placeholder 2"/>
          <p:cNvSpPr>
            <a:spLocks noGrp="1" noChangeAspect="1"/>
          </p:cNvSpPr>
          <p:nvPr>
            <p:ph type="pic" idx="21"/>
          </p:nvPr>
        </p:nvSpPr>
        <p:spPr>
          <a:xfrm>
            <a:off x="4441348" y="2367093"/>
            <a:ext cx="3303352" cy="1524000"/>
          </a:xfrm>
          <a:prstGeom prst="roundRect">
            <a:avLst>
              <a:gd name="adj" fmla="val 8841"/>
            </a:avLst>
          </a:prstGeom>
          <a:noFill/>
          <a:ln w="82550" cap="sq">
            <a:solidFill>
              <a:srgbClr val="EAEAEA"/>
            </a:solidFill>
            <a:miter lim="800000"/>
          </a:ln>
          <a:effectLst/>
          <a:scene3d>
            <a:camera prst="orthographicFront"/>
            <a:lightRig rig="threePt" dir="t">
              <a:rot lat="0" lon="0" rev="2700000"/>
            </a:lightRig>
          </a:scene3d>
          <a:sp3d contourW="6350">
            <a:bevelT h="38100"/>
            <a:contourClr>
              <a:srgbClr val="C0C0C0"/>
            </a:contourClr>
          </a:sp3d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24" name="Text Placeholder 3"/>
          <p:cNvSpPr>
            <a:spLocks noGrp="1"/>
          </p:cNvSpPr>
          <p:nvPr>
            <p:ph type="body" sz="half" idx="19"/>
          </p:nvPr>
        </p:nvSpPr>
        <p:spPr>
          <a:xfrm>
            <a:off x="4441348" y="4781080"/>
            <a:ext cx="3303352" cy="1010119"/>
          </a:xfrm>
        </p:spPr>
        <p:txBody>
          <a:bodyPr anchor="t">
            <a:normAutofit/>
          </a:bodyPr>
          <a:lstStyle>
            <a:lvl1pPr marL="0" indent="0" algn="ctr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5" name="Text Placeholder 4"/>
          <p:cNvSpPr>
            <a:spLocks noGrp="1"/>
          </p:cNvSpPr>
          <p:nvPr>
            <p:ph type="body" sz="quarter" idx="13"/>
          </p:nvPr>
        </p:nvSpPr>
        <p:spPr>
          <a:xfrm>
            <a:off x="7973298" y="4204820"/>
            <a:ext cx="3300681" cy="576262"/>
          </a:xfrm>
        </p:spPr>
        <p:txBody>
          <a:bodyPr anchor="b">
            <a:noAutofit/>
          </a:bodyPr>
          <a:lstStyle>
            <a:lvl1pPr marL="0" indent="0" algn="ctr">
              <a:lnSpc>
                <a:spcPct val="85000"/>
              </a:lnSpc>
              <a:buNone/>
              <a:defRPr sz="2200" b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6" name="Picture Placeholder 2"/>
          <p:cNvSpPr>
            <a:spLocks noGrp="1" noChangeAspect="1"/>
          </p:cNvSpPr>
          <p:nvPr>
            <p:ph type="pic" idx="22"/>
          </p:nvPr>
        </p:nvSpPr>
        <p:spPr>
          <a:xfrm>
            <a:off x="7973298" y="2367093"/>
            <a:ext cx="3304928" cy="1524000"/>
          </a:xfrm>
          <a:prstGeom prst="roundRect">
            <a:avLst>
              <a:gd name="adj" fmla="val 8841"/>
            </a:avLst>
          </a:prstGeom>
          <a:noFill/>
          <a:ln w="82550" cap="sq">
            <a:solidFill>
              <a:srgbClr val="EAEAEA"/>
            </a:solidFill>
            <a:miter lim="800000"/>
          </a:ln>
          <a:effectLst/>
          <a:scene3d>
            <a:camera prst="orthographicFront"/>
            <a:lightRig rig="threePt" dir="t">
              <a:rot lat="0" lon="0" rev="2700000"/>
            </a:lightRig>
          </a:scene3d>
          <a:sp3d contourW="6350">
            <a:bevelT h="38100"/>
            <a:contourClr>
              <a:srgbClr val="C0C0C0"/>
            </a:contourClr>
          </a:sp3d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27" name="Text Placeholder 3"/>
          <p:cNvSpPr>
            <a:spLocks noGrp="1"/>
          </p:cNvSpPr>
          <p:nvPr>
            <p:ph type="body" sz="half" idx="20"/>
          </p:nvPr>
        </p:nvSpPr>
        <p:spPr>
          <a:xfrm>
            <a:off x="7973173" y="4781078"/>
            <a:ext cx="3305053" cy="1010121"/>
          </a:xfrm>
        </p:spPr>
        <p:txBody>
          <a:bodyPr anchor="t">
            <a:normAutofit/>
          </a:bodyPr>
          <a:lstStyle>
            <a:lvl1pPr marL="0" indent="0" algn="ctr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BE96208-09BF-4CFA-8F9F-70DF31B5C050}" type="datetimeFigureOut">
              <a:rPr lang="en-IN" smtClean="0"/>
              <a:t>30-01-2026</a:t>
            </a:fld>
            <a:endParaRPr lang="en-IN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FC33AA3-0DEC-4B82-9BA7-CF82562B0E8C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661378113"/>
      </p:ext>
    </p:extLst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Picture 7" descr="Droplets-HD-Content-R1d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11" name="Vertical Text Placeholder 2"/>
          <p:cNvSpPr>
            <a:spLocks noGrp="1"/>
          </p:cNvSpPr>
          <p:nvPr>
            <p:ph type="body" orient="vert" sz="quarter" idx="13"/>
          </p:nvPr>
        </p:nvSpPr>
        <p:spPr>
          <a:xfrm>
            <a:off x="913775" y="2367093"/>
            <a:ext cx="10364452" cy="3424107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BE96208-09BF-4CFA-8F9F-70DF31B5C050}" type="datetimeFigureOut">
              <a:rPr lang="en-IN" smtClean="0"/>
              <a:t>30-01-2026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FC33AA3-0DEC-4B82-9BA7-CF82562B0E8C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965881886"/>
      </p:ext>
    </p:extLst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" name="Picture 8" descr="Droplets-HD-Content-R1d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724900" y="609601"/>
            <a:ext cx="2553326" cy="5181599"/>
          </a:xfrm>
        </p:spPr>
        <p:txBody>
          <a:bodyPr vert="eaVert"/>
          <a:lstStyle>
            <a:lvl1pPr algn="l">
              <a:defRPr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8" name="Vertical Text Placeholder 2"/>
          <p:cNvSpPr>
            <a:spLocks noGrp="1"/>
          </p:cNvSpPr>
          <p:nvPr>
            <p:ph type="body" orient="vert" sz="quarter" idx="13"/>
          </p:nvPr>
        </p:nvSpPr>
        <p:spPr>
          <a:xfrm>
            <a:off x="913775" y="609601"/>
            <a:ext cx="7658724" cy="5181599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BE96208-09BF-4CFA-8F9F-70DF31B5C050}" type="datetimeFigureOut">
              <a:rPr lang="en-IN" smtClean="0"/>
              <a:t>30-01-2026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FC33AA3-0DEC-4B82-9BA7-CF82562B0E8C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68272767"/>
      </p:ext>
    </p:extLst>
  </p:cSld>
  <p:clrMapOvr>
    <a:masterClrMapping/>
  </p:clrMapOvr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type="obj">
  <p:cSld name="1_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BE96208-09BF-4CFA-8F9F-70DF31B5C050}" type="datetimeFigureOut">
              <a:rPr lang="en-IN" smtClean="0"/>
              <a:t>30-01-2026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FC33AA3-0DEC-4B82-9BA7-CF82562B0E8C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932060413"/>
      </p:ext>
    </p:extLst>
  </p:cSld>
  <p:clrMapOvr>
    <a:masterClrMapping/>
  </p:clrMapOvr>
</p:sldLayout>
</file>

<file path=ppt/slideLayouts/slideLayout19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>
  <p:cSld name="1_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Title 7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1205344" y="2011680"/>
            <a:ext cx="4754880" cy="4206240"/>
          </a:xfrm>
        </p:spPr>
        <p:txBody>
          <a:bodyPr/>
          <a:lstStyle>
            <a:lvl1pPr>
              <a:defRPr sz="22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230391" y="2011680"/>
            <a:ext cx="4754880" cy="4206240"/>
          </a:xfrm>
        </p:spPr>
        <p:txBody>
          <a:bodyPr/>
          <a:lstStyle>
            <a:lvl1pPr>
              <a:defRPr sz="22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BE96208-09BF-4CFA-8F9F-70DF31B5C050}" type="datetimeFigureOut">
              <a:rPr lang="en-IN" smtClean="0"/>
              <a:t>30-01-2026</a:t>
            </a:fld>
            <a:endParaRPr lang="en-I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FC33AA3-0DEC-4B82-9BA7-CF82562B0E8C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06702352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18" Type="http://schemas.openxmlformats.org/officeDocument/2006/relationships/slideLayout" Target="../slideLayouts/slideLayout18.xml"/><Relationship Id="rId3" Type="http://schemas.openxmlformats.org/officeDocument/2006/relationships/slideLayout" Target="../slideLayouts/slideLayout3.xml"/><Relationship Id="rId21" Type="http://schemas.openxmlformats.org/officeDocument/2006/relationships/image" Target="../media/image1.png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17" Type="http://schemas.openxmlformats.org/officeDocument/2006/relationships/slideLayout" Target="../slideLayouts/slideLayout17.xml"/><Relationship Id="rId2" Type="http://schemas.openxmlformats.org/officeDocument/2006/relationships/slideLayout" Target="../slideLayouts/slideLayout2.xml"/><Relationship Id="rId16" Type="http://schemas.openxmlformats.org/officeDocument/2006/relationships/slideLayout" Target="../slideLayouts/slideLayout16.xml"/><Relationship Id="rId20" Type="http://schemas.openxmlformats.org/officeDocument/2006/relationships/theme" Target="../theme/theme1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10" Type="http://schemas.openxmlformats.org/officeDocument/2006/relationships/slideLayout" Target="../slideLayouts/slideLayout10.xml"/><Relationship Id="rId19" Type="http://schemas.openxmlformats.org/officeDocument/2006/relationships/slideLayout" Target="../slideLayouts/slideLayout19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26" name="Picture 2" descr="\\DROBO-FS\QuickDrops\JB\PPTX NG\Droplets\LightingOverlay.png"/>
          <p:cNvPicPr>
            <a:picLocks noChangeAspect="1" noChangeArrowheads="1"/>
          </p:cNvPicPr>
          <p:nvPr/>
        </p:nvPicPr>
        <p:blipFill>
          <a:blip r:embed="rId21">
            <a:alphaModFix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0" y="-1"/>
            <a:ext cx="12192003" cy="685800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913775" y="618517"/>
            <a:ext cx="10364451" cy="1596177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913775" y="2367093"/>
            <a:ext cx="10364452" cy="3424107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7678737" y="5883275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000">
                <a:solidFill>
                  <a:schemeClr val="tx1"/>
                </a:solidFill>
              </a:defRPr>
            </a:lvl1pPr>
          </a:lstStyle>
          <a:p>
            <a:fld id="{EBE96208-09BF-4CFA-8F9F-70DF31B5C050}" type="datetimeFigureOut">
              <a:rPr lang="en-IN" smtClean="0"/>
              <a:t>30-01-2026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913774" y="5883275"/>
            <a:ext cx="6672887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000">
                <a:solidFill>
                  <a:schemeClr val="tx1"/>
                </a:solidFill>
              </a:defRPr>
            </a:lvl1pPr>
          </a:lstStyle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10514011" y="5883275"/>
            <a:ext cx="764215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000">
                <a:solidFill>
                  <a:schemeClr val="tx1"/>
                </a:solidFill>
              </a:defRPr>
            </a:lvl1pPr>
          </a:lstStyle>
          <a:p>
            <a:fld id="{6FC33AA3-0DEC-4B82-9BA7-CF82562B0E8C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484130213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765" r:id="rId1"/>
    <p:sldLayoutId id="2147483766" r:id="rId2"/>
    <p:sldLayoutId id="2147483767" r:id="rId3"/>
    <p:sldLayoutId id="2147483768" r:id="rId4"/>
    <p:sldLayoutId id="2147483769" r:id="rId5"/>
    <p:sldLayoutId id="2147483770" r:id="rId6"/>
    <p:sldLayoutId id="2147483771" r:id="rId7"/>
    <p:sldLayoutId id="2147483772" r:id="rId8"/>
    <p:sldLayoutId id="2147483773" r:id="rId9"/>
    <p:sldLayoutId id="2147483774" r:id="rId10"/>
    <p:sldLayoutId id="2147483775" r:id="rId11"/>
    <p:sldLayoutId id="2147483776" r:id="rId12"/>
    <p:sldLayoutId id="2147483777" r:id="rId13"/>
    <p:sldLayoutId id="2147483778" r:id="rId14"/>
    <p:sldLayoutId id="2147483779" r:id="rId15"/>
    <p:sldLayoutId id="2147483780" r:id="rId16"/>
    <p:sldLayoutId id="2147483781" r:id="rId17"/>
    <p:sldLayoutId id="2147483782" r:id="rId18"/>
    <p:sldLayoutId id="2147483783" r:id="rId19"/>
  </p:sldLayoutIdLst>
  <p:txStyles>
    <p:titleStyle>
      <a:lvl1pPr algn="ctr" defTabSz="914400" rtl="0" eaLnBrk="1" latinLnBrk="0" hangingPunct="1">
        <a:lnSpc>
          <a:spcPct val="90000"/>
        </a:lnSpc>
        <a:spcBef>
          <a:spcPct val="0"/>
        </a:spcBef>
        <a:buNone/>
        <a:defRPr sz="3600" kern="1200" cap="all" baseline="0">
          <a:solidFill>
            <a:schemeClr val="tx1"/>
          </a:solidFill>
          <a:effectLst/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120000"/>
        </a:lnSpc>
        <a:spcBef>
          <a:spcPts val="1000"/>
        </a:spcBef>
        <a:buClr>
          <a:schemeClr val="tx1"/>
        </a:buClr>
        <a:buFont typeface="Arial" panose="020B0604020202020204" pitchFamily="34" charset="0"/>
        <a:buChar char="•"/>
        <a:defRPr sz="2000" kern="1200" cap="all" baseline="0">
          <a:solidFill>
            <a:schemeClr val="tx1"/>
          </a:solidFill>
          <a:effectLst/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120000"/>
        </a:lnSpc>
        <a:spcBef>
          <a:spcPts val="500"/>
        </a:spcBef>
        <a:buClr>
          <a:schemeClr val="tx1"/>
        </a:buClr>
        <a:buFont typeface="Arial" panose="020B0604020202020204" pitchFamily="34" charset="0"/>
        <a:buChar char="•"/>
        <a:defRPr sz="1800" kern="1200" cap="all" baseline="0">
          <a:solidFill>
            <a:schemeClr val="tx1"/>
          </a:solidFill>
          <a:effectLst/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120000"/>
        </a:lnSpc>
        <a:spcBef>
          <a:spcPts val="500"/>
        </a:spcBef>
        <a:buClr>
          <a:schemeClr val="tx1"/>
        </a:buClr>
        <a:buFont typeface="Arial" panose="020B0604020202020204" pitchFamily="34" charset="0"/>
        <a:buChar char="•"/>
        <a:defRPr sz="1600" kern="1200" cap="all" baseline="0">
          <a:solidFill>
            <a:schemeClr val="tx1"/>
          </a:solidFill>
          <a:effectLst/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120000"/>
        </a:lnSpc>
        <a:spcBef>
          <a:spcPts val="500"/>
        </a:spcBef>
        <a:buClr>
          <a:schemeClr val="tx1"/>
        </a:buClr>
        <a:buFont typeface="Arial" panose="020B0604020202020204" pitchFamily="34" charset="0"/>
        <a:buChar char="•"/>
        <a:defRPr sz="1400" kern="1200" cap="all" baseline="0">
          <a:solidFill>
            <a:schemeClr val="tx1"/>
          </a:solidFill>
          <a:effectLst/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120000"/>
        </a:lnSpc>
        <a:spcBef>
          <a:spcPts val="500"/>
        </a:spcBef>
        <a:buClr>
          <a:schemeClr val="tx1"/>
        </a:buClr>
        <a:buFont typeface="Arial" panose="020B0604020202020204" pitchFamily="34" charset="0"/>
        <a:buChar char="•"/>
        <a:defRPr sz="1400" kern="1200" cap="all" baseline="0">
          <a:solidFill>
            <a:schemeClr val="tx1"/>
          </a:solidFill>
          <a:effectLst/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120000"/>
        </a:lnSpc>
        <a:spcBef>
          <a:spcPts val="500"/>
        </a:spcBef>
        <a:buClr>
          <a:schemeClr val="tx1"/>
        </a:buClr>
        <a:buFont typeface="Arial" panose="020B0604020202020204" pitchFamily="34" charset="0"/>
        <a:buChar char="•"/>
        <a:defRPr sz="1400" kern="1200" cap="all" baseline="0">
          <a:solidFill>
            <a:schemeClr val="tx1"/>
          </a:solidFill>
          <a:effectLst/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120000"/>
        </a:lnSpc>
        <a:spcBef>
          <a:spcPts val="500"/>
        </a:spcBef>
        <a:buClr>
          <a:schemeClr val="tx1"/>
        </a:buClr>
        <a:buFont typeface="Arial" panose="020B0604020202020204" pitchFamily="34" charset="0"/>
        <a:buChar char="•"/>
        <a:defRPr sz="1400" kern="1200" cap="all" baseline="0">
          <a:solidFill>
            <a:schemeClr val="tx1"/>
          </a:solidFill>
          <a:effectLst/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120000"/>
        </a:lnSpc>
        <a:spcBef>
          <a:spcPts val="500"/>
        </a:spcBef>
        <a:buClr>
          <a:schemeClr val="tx1"/>
        </a:buClr>
        <a:buFont typeface="Arial" panose="020B0604020202020204" pitchFamily="34" charset="0"/>
        <a:buChar char="•"/>
        <a:defRPr sz="1400" kern="1200" cap="all" baseline="0">
          <a:solidFill>
            <a:schemeClr val="tx1"/>
          </a:solidFill>
          <a:effectLst/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120000"/>
        </a:lnSpc>
        <a:spcBef>
          <a:spcPts val="500"/>
        </a:spcBef>
        <a:buClr>
          <a:schemeClr val="tx1"/>
        </a:buClr>
        <a:buFont typeface="Arial" panose="020B0604020202020204" pitchFamily="34" charset="0"/>
        <a:buChar char="•"/>
        <a:defRPr sz="1400" kern="1200" cap="all" baseline="0">
          <a:solidFill>
            <a:schemeClr val="tx1"/>
          </a:solidFill>
          <a:effectLst/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18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8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8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8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18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18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8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18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8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8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19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8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8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8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8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8.xml"/></Relationships>
</file>

<file path=ppt/slides/_rels/slide1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18.xml"/></Relationships>
</file>

<file path=ppt/slides/_rels/slide2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1.png"/><Relationship Id="rId1" Type="http://schemas.openxmlformats.org/officeDocument/2006/relationships/slideLayout" Target="../slideLayouts/slideLayout18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8.xml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8.xml"/></Relationships>
</file>

<file path=ppt/slides/_rels/slide2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2.png"/><Relationship Id="rId1" Type="http://schemas.openxmlformats.org/officeDocument/2006/relationships/slideLayout" Target="../slideLayouts/slideLayout18.xml"/></Relationships>
</file>

<file path=ppt/slides/_rels/slide2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8.xml"/></Relationships>
</file>

<file path=ppt/slides/_rels/slide2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8.xml"/></Relationships>
</file>

<file path=ppt/slides/_rels/slide2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8.xml"/></Relationships>
</file>

<file path=ppt/slides/_rels/slide2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8.xml"/></Relationships>
</file>

<file path=ppt/slides/_rels/slide2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8.xml"/></Relationships>
</file>

<file path=ppt/slides/_rels/slide2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8.xml"/></Relationships>
</file>

<file path=ppt/slides/_rels/slide3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3.png"/><Relationship Id="rId1" Type="http://schemas.openxmlformats.org/officeDocument/2006/relationships/slideLayout" Target="../slideLayouts/slideLayout18.xml"/></Relationships>
</file>

<file path=ppt/slides/_rels/slide3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8.xml"/></Relationships>
</file>

<file path=ppt/slides/_rels/slide3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8.xml"/></Relationships>
</file>

<file path=ppt/slides/_rels/slide3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8.xml"/></Relationships>
</file>

<file path=ppt/slides/_rels/slide3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8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C514A06-5636-85D9-99A8-B61243294816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0" y="1553966"/>
            <a:ext cx="7894433" cy="2015144"/>
          </a:xfrm>
        </p:spPr>
        <p:txBody>
          <a:bodyPr>
            <a:normAutofit/>
          </a:bodyPr>
          <a:lstStyle/>
          <a:p>
            <a:r>
              <a:rPr lang="en-IN" dirty="0"/>
              <a:t>Receipt &amp; Invoice Digitizer (MydigiBill)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CD50E996-FC2B-309D-05FA-46E76117463A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314633" y="3778045"/>
            <a:ext cx="7491310" cy="1371599"/>
          </a:xfrm>
        </p:spPr>
        <p:txBody>
          <a:bodyPr/>
          <a:lstStyle/>
          <a:p>
            <a:r>
              <a:rPr lang="en-IN" b="1" dirty="0"/>
              <a:t>Smart Receipt &amp; Expense Tracker</a:t>
            </a:r>
          </a:p>
        </p:txBody>
      </p:sp>
      <p:pic>
        <p:nvPicPr>
          <p:cNvPr id="4" name="Image 0">
            <a:extLst>
              <a:ext uri="{FF2B5EF4-FFF2-40B4-BE49-F238E27FC236}">
                <a16:creationId xmlns:a16="http://schemas.microsoft.com/office/drawing/2014/main" id="{644033A8-B685-4790-0A7E-74E3020A9B63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973961" y="6761"/>
            <a:ext cx="4218039" cy="685123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83735494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784A9AA-DE21-0118-CE8D-54F1E2F6354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1" y="336297"/>
            <a:ext cx="10364451" cy="1596177"/>
          </a:xfrm>
        </p:spPr>
        <p:txBody>
          <a:bodyPr/>
          <a:lstStyle/>
          <a:p>
            <a:r>
              <a:rPr lang="en-IN" dirty="0"/>
              <a:t>Problem Statement</a:t>
            </a:r>
          </a:p>
        </p:txBody>
      </p:sp>
      <p:sp>
        <p:nvSpPr>
          <p:cNvPr id="4" name="Rectangle 1">
            <a:extLst>
              <a:ext uri="{FF2B5EF4-FFF2-40B4-BE49-F238E27FC236}">
                <a16:creationId xmlns:a16="http://schemas.microsoft.com/office/drawing/2014/main" id="{3D4848DE-AB88-D66C-5E27-26A9315CE9D2}"/>
              </a:ext>
            </a:extLst>
          </p:cNvPr>
          <p:cNvSpPr>
            <a:spLocks noGrp="1" noChangeArrowheads="1"/>
          </p:cNvSpPr>
          <p:nvPr>
            <p:ph idx="1"/>
          </p:nvPr>
        </p:nvSpPr>
        <p:spPr bwMode="auto">
          <a:xfrm>
            <a:off x="838201" y="1382083"/>
            <a:ext cx="5257800" cy="5033686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buNone/>
              <a:tabLst/>
            </a:pPr>
            <a:r>
              <a:rPr kumimoji="0" lang="en-US" altLang="en-US" sz="18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+mj-lt"/>
              </a:rPr>
              <a:t>Manual handling of receipts and invoices is:</a:t>
            </a:r>
          </a:p>
          <a:p>
            <a:pPr marL="0" marR="0" lvl="0" indent="0" algn="l" defTabSz="914400" rtl="0" eaLnBrk="0" fontAlgn="base" latinLnBrk="0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+mj-lt"/>
              </a:rPr>
              <a:t>Time-consuming</a:t>
            </a:r>
          </a:p>
          <a:p>
            <a:pPr marL="0" marR="0" lvl="0" indent="0" algn="l" defTabSz="914400" rtl="0" eaLnBrk="0" fontAlgn="base" latinLnBrk="0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+mj-lt"/>
              </a:rPr>
              <a:t>Error-prone</a:t>
            </a:r>
          </a:p>
          <a:p>
            <a:pPr marL="0" marR="0" lvl="0" indent="0" algn="l" defTabSz="914400" rtl="0" eaLnBrk="0" fontAlgn="base" latinLnBrk="0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+mj-lt"/>
              </a:rPr>
              <a:t>Difficult to organize</a:t>
            </a:r>
          </a:p>
          <a:p>
            <a:pPr marL="0" marR="0" lvl="0" indent="0" algn="l" defTabSz="914400" rtl="0" eaLnBrk="0" fontAlgn="base" latinLnBrk="0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buNone/>
              <a:tabLst/>
            </a:pPr>
            <a:r>
              <a:rPr kumimoji="0" lang="en-US" altLang="en-US" sz="18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+mj-lt"/>
              </a:rPr>
              <a:t>Businesses generate receipts in:</a:t>
            </a:r>
          </a:p>
          <a:p>
            <a:pPr marL="0" marR="0" lvl="0" indent="0" algn="l" defTabSz="914400" rtl="0" eaLnBrk="0" fontAlgn="base" latinLnBrk="0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+mj-lt"/>
              </a:rPr>
              <a:t>Images</a:t>
            </a:r>
          </a:p>
          <a:p>
            <a:pPr marL="0" marR="0" lvl="0" indent="0" algn="l" defTabSz="914400" rtl="0" eaLnBrk="0" fontAlgn="base" latinLnBrk="0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+mj-lt"/>
              </a:rPr>
              <a:t>PDFs</a:t>
            </a:r>
          </a:p>
          <a:p>
            <a:pPr marL="0" marR="0" lvl="0" indent="0" algn="l" defTabSz="914400" rtl="0" eaLnBrk="0" fontAlgn="base" latinLnBrk="0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+mj-lt"/>
              </a:rPr>
              <a:t>Scanned formats</a:t>
            </a:r>
          </a:p>
          <a:p>
            <a:pPr marL="0" marR="0" lvl="0" indent="0" algn="l" defTabSz="914400" rtl="0" eaLnBrk="0" fontAlgn="base" latinLnBrk="0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buNone/>
              <a:tabLst/>
            </a:pPr>
            <a:r>
              <a:rPr kumimoji="0" lang="en-US" altLang="en-US" sz="18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+mj-lt"/>
              </a:rPr>
              <a:t>Need an automated system to:</a:t>
            </a:r>
          </a:p>
          <a:p>
            <a:pPr marL="0" marR="0" lvl="0" indent="0" algn="l" defTabSz="914400" rtl="0" eaLnBrk="0" fontAlgn="base" latinLnBrk="0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+mj-lt"/>
              </a:rPr>
              <a:t>Digitize documents</a:t>
            </a:r>
          </a:p>
          <a:p>
            <a:pPr marL="0" marR="0" lvl="0" indent="0" algn="l" defTabSz="914400" rtl="0" eaLnBrk="0" fontAlgn="base" latinLnBrk="0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+mj-lt"/>
              </a:rPr>
              <a:t>Extract readable text</a:t>
            </a:r>
          </a:p>
          <a:p>
            <a:pPr marL="0" marR="0" lvl="0" indent="0" algn="l" defTabSz="914400" rtl="0" eaLnBrk="0" fontAlgn="base" latinLnBrk="0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+mj-lt"/>
              </a:rPr>
              <a:t>Prepare data for intelligent processing</a:t>
            </a:r>
          </a:p>
        </p:txBody>
      </p:sp>
      <p:pic>
        <p:nvPicPr>
          <p:cNvPr id="5" name="Image 0">
            <a:extLst>
              <a:ext uri="{FF2B5EF4-FFF2-40B4-BE49-F238E27FC236}">
                <a16:creationId xmlns:a16="http://schemas.microsoft.com/office/drawing/2014/main" id="{D70E7CF0-FDF2-1F87-B06D-D4A9D3511B8F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941574" y="1932474"/>
            <a:ext cx="3932903" cy="393290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628824864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DBEC09B-6B97-57A6-D72A-2AE1212B009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dirty="0"/>
              <a:t>Project Overview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BECC446-CBA7-29B6-0AB8-9997A73B7479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>
              <a:buNone/>
            </a:pPr>
            <a:r>
              <a:rPr lang="en-US" b="1" dirty="0"/>
              <a:t>MydigiBill</a:t>
            </a:r>
            <a:r>
              <a:rPr lang="en-US" dirty="0"/>
              <a:t> is a smart system that:</a:t>
            </a:r>
          </a:p>
          <a:p>
            <a:r>
              <a:rPr lang="en-US" dirty="0"/>
              <a:t>Accepts receipt/invoice files</a:t>
            </a:r>
          </a:p>
          <a:p>
            <a:r>
              <a:rPr lang="en-US" dirty="0"/>
              <a:t>Extracts text using OCR</a:t>
            </a:r>
          </a:p>
          <a:p>
            <a:r>
              <a:rPr lang="en-US" dirty="0"/>
              <a:t>Uses AI to understand and structure data</a:t>
            </a:r>
          </a:p>
          <a:p>
            <a:r>
              <a:rPr lang="en-US" dirty="0"/>
              <a:t>Stores and analyzes expenses</a:t>
            </a:r>
          </a:p>
          <a:p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2130284436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A2D9F63-7F9E-9433-BF61-47F149AE5A5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dirty="0"/>
              <a:t>Objective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72B65CE-BF3A-3A01-72AB-7B9B643C0112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>
              <a:buNone/>
            </a:pPr>
            <a:r>
              <a:rPr lang="en-IN" b="1" dirty="0"/>
              <a:t>Milestone-1 Goals:</a:t>
            </a:r>
            <a:endParaRPr lang="en-IN" dirty="0"/>
          </a:p>
          <a:p>
            <a:r>
              <a:rPr lang="en-IN" dirty="0"/>
              <a:t>Implement file upload functionality</a:t>
            </a:r>
          </a:p>
          <a:p>
            <a:r>
              <a:rPr lang="en-IN" dirty="0"/>
              <a:t>Preprocess documents for OCR</a:t>
            </a:r>
          </a:p>
          <a:p>
            <a:r>
              <a:rPr lang="en-IN" dirty="0"/>
              <a:t>Extract raw text accurately</a:t>
            </a:r>
          </a:p>
          <a:p>
            <a:r>
              <a:rPr lang="en-IN" dirty="0"/>
              <a:t>Support multiple receipt formats</a:t>
            </a:r>
          </a:p>
          <a:p>
            <a:r>
              <a:rPr lang="en-IN" dirty="0"/>
              <a:t>Prepare OCR output for AI mapping</a:t>
            </a:r>
          </a:p>
          <a:p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4114530083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E9B0950-5CA2-EAA9-3BB3-C8FF5D52257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dirty="0"/>
              <a:t>Milestone-1 Scope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7891E37-289C-9D9A-40AA-653496BB20EA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en-IN" dirty="0"/>
              <a:t>File upload (Image &amp; PDF)</a:t>
            </a:r>
          </a:p>
          <a:p>
            <a:r>
              <a:rPr lang="en-IN" dirty="0"/>
              <a:t>Image preprocessing</a:t>
            </a:r>
          </a:p>
          <a:p>
            <a:r>
              <a:rPr lang="en-IN" dirty="0"/>
              <a:t>OCR text extraction</a:t>
            </a:r>
          </a:p>
          <a:p>
            <a:r>
              <a:rPr lang="en-IN" dirty="0"/>
              <a:t>Raw text validation</a:t>
            </a:r>
          </a:p>
          <a:p>
            <a:pPr marL="0" indent="0">
              <a:buNone/>
            </a:pPr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3470360274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C9E0C4B-5066-F9A0-6100-84D3973A240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913774" y="360452"/>
            <a:ext cx="10364451" cy="1596177"/>
          </a:xfrm>
        </p:spPr>
        <p:txBody>
          <a:bodyPr/>
          <a:lstStyle/>
          <a:p>
            <a:r>
              <a:rPr lang="en-IN" dirty="0"/>
              <a:t>System Architecture</a:t>
            </a:r>
          </a:p>
        </p:txBody>
      </p:sp>
      <p:pic>
        <p:nvPicPr>
          <p:cNvPr id="5" name="Content Placeholder 4">
            <a:extLst>
              <a:ext uri="{FF2B5EF4-FFF2-40B4-BE49-F238E27FC236}">
                <a16:creationId xmlns:a16="http://schemas.microsoft.com/office/drawing/2014/main" id="{EBA38454-7B5E-B9D7-15B2-3C8408EDD1FA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683715" y="1799313"/>
            <a:ext cx="7246865" cy="4716582"/>
          </a:xfrm>
        </p:spPr>
      </p:pic>
    </p:spTree>
    <p:extLst>
      <p:ext uri="{BB962C8B-B14F-4D97-AF65-F5344CB8AC3E}">
        <p14:creationId xmlns:p14="http://schemas.microsoft.com/office/powerpoint/2010/main" val="3316652241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E585A65-D65E-54C9-9FE0-2724E564E4D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dirty="0"/>
              <a:t>File Upload Module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C7B7020E-6749-2FBA-FAB3-A950BEB1BF4E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913775" y="1842819"/>
            <a:ext cx="10364452" cy="4498987"/>
          </a:xfrm>
        </p:spPr>
        <p:txBody>
          <a:bodyPr>
            <a:normAutofit fontScale="40000" lnSpcReduction="20000"/>
          </a:bodyPr>
          <a:lstStyle/>
          <a:p>
            <a:r>
              <a:rPr lang="en-IN" sz="4800" dirty="0"/>
              <a:t>Supports:</a:t>
            </a:r>
          </a:p>
          <a:p>
            <a:pPr lvl="1"/>
            <a:r>
              <a:rPr lang="en-IN" sz="3600" dirty="0"/>
              <a:t>JPG</a:t>
            </a:r>
          </a:p>
          <a:p>
            <a:pPr lvl="1"/>
            <a:r>
              <a:rPr lang="en-IN" sz="3600" dirty="0"/>
              <a:t>PNG</a:t>
            </a:r>
          </a:p>
          <a:p>
            <a:pPr lvl="1"/>
            <a:r>
              <a:rPr lang="en-IN" sz="3600" dirty="0"/>
              <a:t>JPEG</a:t>
            </a:r>
          </a:p>
          <a:p>
            <a:pPr lvl="1"/>
            <a:r>
              <a:rPr lang="en-IN" sz="3600" dirty="0"/>
              <a:t>PDF</a:t>
            </a:r>
          </a:p>
          <a:p>
            <a:r>
              <a:rPr lang="en-IN" sz="4800" dirty="0"/>
              <a:t>Uploaded files stored locally</a:t>
            </a:r>
          </a:p>
          <a:p>
            <a:r>
              <a:rPr lang="en-IN" sz="4800" dirty="0"/>
              <a:t>Duplicate receipt detection implemented</a:t>
            </a:r>
          </a:p>
          <a:p>
            <a:pPr marL="0" indent="0">
              <a:buNone/>
            </a:pPr>
            <a:r>
              <a:rPr lang="en-IN" sz="4800" b="1" dirty="0"/>
              <a:t>Benefits:</a:t>
            </a:r>
            <a:endParaRPr lang="en-IN" sz="4800" dirty="0"/>
          </a:p>
          <a:p>
            <a:r>
              <a:rPr lang="en-IN" sz="4800" dirty="0"/>
              <a:t>Simple UI</a:t>
            </a:r>
          </a:p>
          <a:p>
            <a:r>
              <a:rPr lang="en-IN" sz="4800" dirty="0"/>
              <a:t>Fast processing</a:t>
            </a:r>
          </a:p>
          <a:p>
            <a:r>
              <a:rPr lang="en-IN" sz="4800" dirty="0"/>
              <a:t>Prevents reprocessing same files</a:t>
            </a:r>
          </a:p>
          <a:p>
            <a:endParaRPr lang="en-IN" dirty="0"/>
          </a:p>
        </p:txBody>
      </p:sp>
      <p:pic>
        <p:nvPicPr>
          <p:cNvPr id="4" name="Image 0">
            <a:extLst>
              <a:ext uri="{FF2B5EF4-FFF2-40B4-BE49-F238E27FC236}">
                <a16:creationId xmlns:a16="http://schemas.microsoft.com/office/drawing/2014/main" id="{B06E1F66-0633-6ADB-AF7E-F981D885A5A9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918721" y="1970639"/>
            <a:ext cx="3948381" cy="394838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503310324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0BDEE16-A0F8-86C3-D836-6BEAC738D1C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dirty="0"/>
              <a:t>PDF to Image Conversion</a:t>
            </a:r>
            <a:br>
              <a:rPr lang="en-IN" b="1" dirty="0"/>
            </a:br>
            <a:endParaRPr lang="en-IN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7E886824-6EDC-09E5-B560-458A39D83F42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PDFs converted using pdf2image</a:t>
            </a:r>
          </a:p>
          <a:p>
            <a:r>
              <a:rPr lang="en-US" dirty="0"/>
              <a:t>First page extracted as image</a:t>
            </a:r>
          </a:p>
          <a:p>
            <a:r>
              <a:rPr lang="en-US" dirty="0"/>
              <a:t>Enables OCR on scanned invoices</a:t>
            </a:r>
          </a:p>
          <a:p>
            <a:pPr marL="0" indent="0">
              <a:buNone/>
            </a:pPr>
            <a:r>
              <a:rPr lang="en-US" b="1" dirty="0"/>
              <a:t>Why needed?</a:t>
            </a:r>
            <a:endParaRPr lang="en-US" dirty="0"/>
          </a:p>
          <a:p>
            <a:r>
              <a:rPr lang="en-US" dirty="0"/>
              <a:t>OCR engines work best on images</a:t>
            </a:r>
          </a:p>
          <a:p>
            <a:r>
              <a:rPr lang="en-US" dirty="0"/>
              <a:t>Ensures format compatibility</a:t>
            </a:r>
          </a:p>
        </p:txBody>
      </p:sp>
    </p:spTree>
    <p:extLst>
      <p:ext uri="{BB962C8B-B14F-4D97-AF65-F5344CB8AC3E}">
        <p14:creationId xmlns:p14="http://schemas.microsoft.com/office/powerpoint/2010/main" val="2034618666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4AAFAA1-D800-02CA-3BAF-6A1B1C57E6E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dirty="0"/>
              <a:t>Importance of Image Preprocessing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848AEDA-8197-D48B-1CEE-5C8134E88F2F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>
              <a:buNone/>
            </a:pPr>
            <a:r>
              <a:rPr lang="en-US" dirty="0"/>
              <a:t>Raw receipts may contain:</a:t>
            </a:r>
          </a:p>
          <a:p>
            <a:r>
              <a:rPr lang="en-US" dirty="0"/>
              <a:t>Noise</a:t>
            </a:r>
          </a:p>
          <a:p>
            <a:r>
              <a:rPr lang="en-US" dirty="0"/>
              <a:t>Shadows</a:t>
            </a:r>
          </a:p>
          <a:p>
            <a:r>
              <a:rPr lang="en-US" dirty="0"/>
              <a:t>Skewed text</a:t>
            </a:r>
          </a:p>
          <a:p>
            <a:r>
              <a:rPr lang="en-US" dirty="0"/>
              <a:t>Poor contrast</a:t>
            </a:r>
          </a:p>
          <a:p>
            <a:pPr marL="0" indent="0">
              <a:buNone/>
            </a:pPr>
            <a:r>
              <a:rPr lang="en-US" dirty="0"/>
              <a:t>📌 </a:t>
            </a:r>
            <a:r>
              <a:rPr lang="en-US" i="1" dirty="0"/>
              <a:t>Preprocessing improves OCR accuracy significantly.</a:t>
            </a:r>
            <a:endParaRPr lang="en-US" dirty="0"/>
          </a:p>
          <a:p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3943896100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6125BE3-21F5-1E5B-C980-0000E5DB6CC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dirty="0"/>
              <a:t>OCR Engine: Tesseract</a:t>
            </a:r>
          </a:p>
        </p:txBody>
      </p:sp>
      <p:sp>
        <p:nvSpPr>
          <p:cNvPr id="4" name="Rectangle 1">
            <a:extLst>
              <a:ext uri="{FF2B5EF4-FFF2-40B4-BE49-F238E27FC236}">
                <a16:creationId xmlns:a16="http://schemas.microsoft.com/office/drawing/2014/main" id="{01CB0F3D-8ADA-A9D7-4FDD-005264577DC0}"/>
              </a:ext>
            </a:extLst>
          </p:cNvPr>
          <p:cNvSpPr>
            <a:spLocks noGrp="1" noChangeArrowheads="1"/>
          </p:cNvSpPr>
          <p:nvPr>
            <p:ph idx="1"/>
          </p:nvPr>
        </p:nvSpPr>
        <p:spPr bwMode="auto">
          <a:xfrm>
            <a:off x="1681315" y="1906776"/>
            <a:ext cx="9454029" cy="4062651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</a:pPr>
            <a:r>
              <a:rPr kumimoji="0" lang="en-US" altLang="en-US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+mj-lt"/>
              </a:rPr>
              <a:t>Open-source OCR engine</a:t>
            </a:r>
          </a:p>
          <a:p>
            <a:pPr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</a:pPr>
            <a:r>
              <a:rPr kumimoji="0" lang="en-US" altLang="en-US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+mj-lt"/>
              </a:rPr>
              <a:t>Supports printed receipts</a:t>
            </a:r>
          </a:p>
          <a:p>
            <a:pPr marL="0" indent="0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None/>
            </a:pPr>
            <a:r>
              <a:rPr kumimoji="0" lang="en-US" altLang="en-US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+mj-lt"/>
              </a:rPr>
              <a:t>Configured with:</a:t>
            </a:r>
          </a:p>
          <a:p>
            <a:pPr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</a:pPr>
            <a:r>
              <a:rPr kumimoji="0" lang="en-US" altLang="en-US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+mj-lt"/>
              </a:rPr>
              <a:t>Multiple page segmentation modes</a:t>
            </a:r>
          </a:p>
          <a:p>
            <a:pPr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</a:pPr>
            <a:r>
              <a:rPr kumimoji="0" lang="en-US" altLang="en-US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+mj-lt"/>
              </a:rPr>
              <a:t>Confidence filtering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None/>
              <a:tabLst/>
            </a:pPr>
            <a:endParaRPr kumimoji="0" lang="en-US" altLang="en-US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+mj-lt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None/>
              <a:tabLst/>
            </a:pPr>
            <a:r>
              <a:rPr kumimoji="0" lang="en-US" altLang="en-US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+mj-lt"/>
              </a:rPr>
              <a:t>Extracts:</a:t>
            </a:r>
          </a:p>
          <a:p>
            <a:pPr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</a:pPr>
            <a:r>
              <a:rPr kumimoji="0" lang="en-US" altLang="en-US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+mj-lt"/>
              </a:rPr>
              <a:t>Store name</a:t>
            </a:r>
          </a:p>
          <a:p>
            <a:pPr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</a:pPr>
            <a:r>
              <a:rPr kumimoji="0" lang="en-US" altLang="en-US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+mj-lt"/>
              </a:rPr>
              <a:t>Dates</a:t>
            </a:r>
          </a:p>
          <a:p>
            <a:pPr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</a:pPr>
            <a:r>
              <a:rPr kumimoji="0" lang="en-US" altLang="en-US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+mj-lt"/>
              </a:rPr>
              <a:t>Items</a:t>
            </a:r>
          </a:p>
          <a:p>
            <a:pPr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</a:pPr>
            <a:r>
              <a:rPr kumimoji="0" lang="en-US" altLang="en-US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+mj-lt"/>
              </a:rPr>
              <a:t>Prices</a:t>
            </a:r>
          </a:p>
          <a:p>
            <a:pPr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</a:pPr>
            <a:r>
              <a:rPr kumimoji="0" lang="en-US" altLang="en-US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+mj-lt"/>
              </a:rPr>
              <a:t>Totals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altLang="en-US" sz="1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  <p:pic>
        <p:nvPicPr>
          <p:cNvPr id="5" name="Image 0">
            <a:extLst>
              <a:ext uri="{FF2B5EF4-FFF2-40B4-BE49-F238E27FC236}">
                <a16:creationId xmlns:a16="http://schemas.microsoft.com/office/drawing/2014/main" id="{48BD9CC3-E21A-A602-8F03-DB634484DDDF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436942" y="1989720"/>
            <a:ext cx="3896762" cy="389676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857466839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D404244-EEBC-6C60-69D0-3BE1424FE15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dirty="0"/>
              <a:t>OCR Output Example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63F601E-5917-2BB8-E93D-BD9F3723B19E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fontScale="92500" lnSpcReduction="20000"/>
          </a:bodyPr>
          <a:lstStyle/>
          <a:p>
            <a:pPr marL="0" indent="0">
              <a:buNone/>
            </a:pPr>
            <a:r>
              <a:rPr lang="en-US" b="1" dirty="0"/>
              <a:t>Extracted Raw Text Includes:</a:t>
            </a:r>
            <a:endParaRPr lang="en-US" dirty="0"/>
          </a:p>
          <a:p>
            <a:r>
              <a:rPr lang="en-US" dirty="0"/>
              <a:t>Store name</a:t>
            </a:r>
          </a:p>
          <a:p>
            <a:r>
              <a:rPr lang="en-US" dirty="0"/>
              <a:t>Item list</a:t>
            </a:r>
          </a:p>
          <a:p>
            <a:r>
              <a:rPr lang="en-US" dirty="0"/>
              <a:t>Prices</a:t>
            </a:r>
          </a:p>
          <a:p>
            <a:r>
              <a:rPr lang="en-US" dirty="0"/>
              <a:t>Tax</a:t>
            </a:r>
          </a:p>
          <a:p>
            <a:r>
              <a:rPr lang="en-US" dirty="0"/>
              <a:t>Total amount</a:t>
            </a:r>
          </a:p>
          <a:p>
            <a:r>
              <a:rPr lang="en-US" dirty="0"/>
              <a:t>Payment information (if available)</a:t>
            </a:r>
          </a:p>
          <a:p>
            <a:pPr marL="0" indent="0">
              <a:buNone/>
            </a:pPr>
            <a:r>
              <a:rPr lang="en-US" dirty="0"/>
              <a:t>✔ Cleaned and validated before AI processing</a:t>
            </a:r>
          </a:p>
          <a:p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3809907446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2EFA139-A87F-26DF-9ADC-EF92A210DE3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Introduction to Ollama (Local AI)</a:t>
            </a:r>
            <a:endParaRPr lang="en-IN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12A4EA0-A4AB-FD2D-5644-AA2162C9AAED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Ollama is a </a:t>
            </a:r>
            <a:r>
              <a:rPr lang="en-US" b="1" dirty="0"/>
              <a:t>local Large Language Model runtime</a:t>
            </a:r>
            <a:endParaRPr lang="en-US" dirty="0"/>
          </a:p>
          <a:p>
            <a:r>
              <a:rPr lang="en-US" dirty="0"/>
              <a:t>Runs AI models on the local machine</a:t>
            </a:r>
          </a:p>
          <a:p>
            <a:r>
              <a:rPr lang="en-US" dirty="0"/>
              <a:t>No internet required</a:t>
            </a:r>
          </a:p>
          <a:p>
            <a:r>
              <a:rPr lang="en-US" dirty="0"/>
              <a:t>No API keys</a:t>
            </a:r>
          </a:p>
          <a:p>
            <a:r>
              <a:rPr lang="en-US" dirty="0"/>
              <a:t>No usage limits</a:t>
            </a:r>
          </a:p>
          <a:p>
            <a:pPr marL="0" indent="0">
              <a:buNone/>
            </a:pPr>
            <a:r>
              <a:rPr lang="en-US" dirty="0"/>
              <a:t>📌 Introduced in Milestone-1 for AI readiness</a:t>
            </a:r>
          </a:p>
          <a:p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1095542059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EC3B46D-6DD1-B94E-E119-121E0B56E2D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913774" y="330171"/>
            <a:ext cx="10364451" cy="1596177"/>
          </a:xfrm>
        </p:spPr>
        <p:txBody>
          <a:bodyPr/>
          <a:lstStyle/>
          <a:p>
            <a:r>
              <a:rPr lang="en-IN" dirty="0"/>
              <a:t>Ollama Working Procedure</a:t>
            </a:r>
          </a:p>
        </p:txBody>
      </p:sp>
      <p:pic>
        <p:nvPicPr>
          <p:cNvPr id="8" name="Picture 7">
            <a:extLst>
              <a:ext uri="{FF2B5EF4-FFF2-40B4-BE49-F238E27FC236}">
                <a16:creationId xmlns:a16="http://schemas.microsoft.com/office/drawing/2014/main" id="{101A0F40-982B-86EE-CA25-702F440D6816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401349" y="1541117"/>
            <a:ext cx="7598058" cy="506537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361938693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E5B40B1-8780-99C7-9BC2-EC8C3C8938A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b="1" dirty="0"/>
              <a:t>Why Local AI (Ollama)?</a:t>
            </a:r>
            <a:br>
              <a:rPr lang="en-IN" b="1" dirty="0"/>
            </a:br>
            <a:endParaRPr lang="en-IN" dirty="0"/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32DAB3ED-30DB-9BB0-6DBF-934DD8AA91C3}"/>
              </a:ext>
            </a:extLst>
          </p:cNvPr>
          <p:cNvSpPr txBox="1"/>
          <p:nvPr/>
        </p:nvSpPr>
        <p:spPr>
          <a:xfrm>
            <a:off x="2231924" y="2214694"/>
            <a:ext cx="6823587" cy="281275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lvl="0" defTabSz="914400" eaLnBrk="0" fontAlgn="base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FontTx/>
              <a:buChar char="•"/>
            </a:pPr>
            <a:r>
              <a:rPr lang="en-US" altLang="en-US" sz="2000" dirty="0"/>
              <a:t>100% Free</a:t>
            </a:r>
          </a:p>
          <a:p>
            <a:pPr lvl="0" defTabSz="914400" eaLnBrk="0" fontAlgn="base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FontTx/>
              <a:buChar char="•"/>
            </a:pPr>
            <a:r>
              <a:rPr lang="en-US" altLang="en-US" sz="2000" dirty="0"/>
              <a:t>Data privacy</a:t>
            </a:r>
          </a:p>
          <a:p>
            <a:pPr lvl="0" defTabSz="914400" eaLnBrk="0" fontAlgn="base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FontTx/>
              <a:buChar char="•"/>
            </a:pPr>
            <a:r>
              <a:rPr lang="en-US" altLang="en-US" sz="2000" dirty="0"/>
              <a:t>Low latency</a:t>
            </a:r>
          </a:p>
          <a:p>
            <a:pPr lvl="0" defTabSz="914400" eaLnBrk="0" fontAlgn="base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FontTx/>
              <a:buChar char="•"/>
            </a:pPr>
            <a:r>
              <a:rPr lang="en-US" altLang="en-US" sz="2000" dirty="0"/>
              <a:t>Offline capability</a:t>
            </a:r>
          </a:p>
          <a:p>
            <a:pPr lvl="0" defTabSz="914400" eaLnBrk="0" fontAlgn="base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FontTx/>
              <a:buChar char="•"/>
            </a:pPr>
            <a:r>
              <a:rPr lang="en-US" altLang="en-US" sz="2000" dirty="0"/>
              <a:t>No vendor lock-in</a:t>
            </a:r>
          </a:p>
          <a:p>
            <a:pPr lvl="0" defTabSz="914400" eaLnBrk="0" fontAlgn="base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FontTx/>
              <a:buChar char="•"/>
            </a:pPr>
            <a:r>
              <a:rPr lang="en-US" altLang="en-US" sz="2000" dirty="0"/>
              <a:t>Ideal for sensitive financial data</a:t>
            </a:r>
          </a:p>
        </p:txBody>
      </p:sp>
    </p:spTree>
    <p:extLst>
      <p:ext uri="{BB962C8B-B14F-4D97-AF65-F5344CB8AC3E}">
        <p14:creationId xmlns:p14="http://schemas.microsoft.com/office/powerpoint/2010/main" val="2135429117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70C7F2C-A560-22B7-B6DB-04146805A67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dirty="0"/>
              <a:t>Challenges Faced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39FD644-0D4E-63E3-968D-D8BB8F1630BE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Noisy OCR output</a:t>
            </a:r>
          </a:p>
          <a:p>
            <a:r>
              <a:rPr lang="en-US" dirty="0"/>
              <a:t>Different receipt layouts</a:t>
            </a:r>
          </a:p>
          <a:p>
            <a:r>
              <a:rPr lang="en-US" dirty="0"/>
              <a:t>Skewed and low-quality images</a:t>
            </a:r>
          </a:p>
          <a:p>
            <a:r>
              <a:rPr lang="en-US" dirty="0"/>
              <a:t>Mixed fonts and formats</a:t>
            </a:r>
          </a:p>
          <a:p>
            <a:pPr marL="0" indent="0">
              <a:buNone/>
            </a:pPr>
            <a:r>
              <a:rPr lang="en-US" dirty="0"/>
              <a:t>✔ Solved using preprocessing and OCR optimization</a:t>
            </a:r>
          </a:p>
          <a:p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2486907646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CC63D68-6CA2-14D6-CF26-EF50F291CA6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dirty="0"/>
              <a:t>Results &amp; Observations</a:t>
            </a:r>
          </a:p>
        </p:txBody>
      </p:sp>
      <p:sp>
        <p:nvSpPr>
          <p:cNvPr id="4" name="Rectangle 1">
            <a:extLst>
              <a:ext uri="{FF2B5EF4-FFF2-40B4-BE49-F238E27FC236}">
                <a16:creationId xmlns:a16="http://schemas.microsoft.com/office/drawing/2014/main" id="{8C3C746C-AD7C-6914-53D1-E2AFDCEA5FF0}"/>
              </a:ext>
            </a:extLst>
          </p:cNvPr>
          <p:cNvSpPr>
            <a:spLocks noGrp="1" noChangeArrowheads="1"/>
          </p:cNvSpPr>
          <p:nvPr>
            <p:ph idx="1"/>
          </p:nvPr>
        </p:nvSpPr>
        <p:spPr bwMode="auto">
          <a:xfrm>
            <a:off x="1572537" y="2338470"/>
            <a:ext cx="3933449" cy="2812758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indent="0" eaLnBrk="0" fontAlgn="base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None/>
            </a:pPr>
            <a:r>
              <a:rPr kumimoji="0" lang="en-US" altLang="en-US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+mj-lt"/>
              </a:rPr>
              <a:t>OCR accuracy improved significantly</a:t>
            </a:r>
          </a:p>
          <a:p>
            <a:pPr marL="0" indent="0" eaLnBrk="0" fontAlgn="base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None/>
            </a:pPr>
            <a:r>
              <a:rPr kumimoji="0" lang="en-US" altLang="en-US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+mj-lt"/>
              </a:rPr>
              <a:t>Successfully extracted text from:</a:t>
            </a:r>
          </a:p>
          <a:p>
            <a:pPr eaLnBrk="0" fontAlgn="base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</a:pPr>
            <a:r>
              <a:rPr kumimoji="0" lang="en-US" altLang="en-US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+mj-lt"/>
              </a:rPr>
              <a:t>Restaurant receipts</a:t>
            </a:r>
          </a:p>
          <a:p>
            <a:pPr eaLnBrk="0" fontAlgn="base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</a:pPr>
            <a:r>
              <a:rPr kumimoji="0" lang="en-US" altLang="en-US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+mj-lt"/>
              </a:rPr>
              <a:t>Retail invoices</a:t>
            </a:r>
          </a:p>
          <a:p>
            <a:pPr eaLnBrk="0" fontAlgn="base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</a:pPr>
            <a:r>
              <a:rPr kumimoji="0" lang="en-US" altLang="en-US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+mj-lt"/>
              </a:rPr>
              <a:t>Supermarket bills</a:t>
            </a:r>
          </a:p>
          <a:p>
            <a:pPr marL="0" indent="0" eaLnBrk="0" fontAlgn="base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None/>
            </a:pPr>
            <a:r>
              <a:rPr kumimoji="0" lang="en-US" altLang="en-US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+mj-lt"/>
              </a:rPr>
              <a:t>Stable OCR pipeline achieved</a:t>
            </a:r>
          </a:p>
        </p:txBody>
      </p:sp>
    </p:spTree>
    <p:extLst>
      <p:ext uri="{BB962C8B-B14F-4D97-AF65-F5344CB8AC3E}">
        <p14:creationId xmlns:p14="http://schemas.microsoft.com/office/powerpoint/2010/main" val="2408775870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27E6BE4-D8FB-76ED-1EE7-50A39D6873E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dirty="0"/>
              <a:t>Milestone-1 Completion Status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21C4615-81F7-EF91-934A-A8347DFBE55E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>
              <a:buNone/>
            </a:pPr>
            <a:r>
              <a:rPr lang="en-US" dirty="0"/>
              <a:t>✔ File upload implemented</a:t>
            </a:r>
            <a:br>
              <a:rPr lang="en-US" dirty="0"/>
            </a:br>
            <a:r>
              <a:rPr lang="en-US" dirty="0"/>
              <a:t>✔ Image preprocessing completed</a:t>
            </a:r>
            <a:br>
              <a:rPr lang="en-US" dirty="0"/>
            </a:br>
            <a:r>
              <a:rPr lang="en-US" dirty="0"/>
              <a:t>✔ OCR extraction successful</a:t>
            </a:r>
            <a:br>
              <a:rPr lang="en-US" dirty="0"/>
            </a:br>
            <a:r>
              <a:rPr lang="en-US" dirty="0"/>
              <a:t>✔ PDF &amp; image support</a:t>
            </a:r>
            <a:br>
              <a:rPr lang="en-US" dirty="0"/>
            </a:br>
            <a:r>
              <a:rPr lang="en-US" dirty="0"/>
              <a:t>✔ AI-ready text generated</a:t>
            </a:r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1841061510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13E3C3B-2696-5AA7-84FE-2E722622308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dirty="0"/>
              <a:t>Conclusion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B955A4A-CCA6-DB0B-32BC-03A28C709039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>
              <a:buNone/>
            </a:pPr>
            <a:r>
              <a:rPr lang="en-US" dirty="0"/>
              <a:t>Milestone-1 successfully established the foundation of the Receipt &amp; Invoice Digitizer system by enabling reliable document ingestion and OCR processing, preparing the project for intelligent AI-based extraction and analytics.</a:t>
            </a:r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1484551508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784A9AA-DE21-0118-CE8D-54F1E2F6354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913774" y="0"/>
            <a:ext cx="10364451" cy="1596177"/>
          </a:xfrm>
        </p:spPr>
        <p:txBody>
          <a:bodyPr/>
          <a:lstStyle/>
          <a:p>
            <a:r>
              <a:rPr lang="en-IN" dirty="0"/>
              <a:t>Milestone 2 Objectives</a:t>
            </a:r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C4DA444E-79CF-2803-A1DF-309037938851}"/>
              </a:ext>
            </a:extLst>
          </p:cNvPr>
          <p:cNvPicPr>
            <a:picLocks noChangeAspect="1"/>
          </p:cNvPicPr>
          <p:nvPr/>
        </p:nvPicPr>
        <p:blipFill>
          <a:blip r:embed="rId2">
            <a:alphaModFix amt="91000"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1356853"/>
            <a:ext cx="12192000" cy="551528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248970050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Picture 6">
            <a:extLst>
              <a:ext uri="{FF2B5EF4-FFF2-40B4-BE49-F238E27FC236}">
                <a16:creationId xmlns:a16="http://schemas.microsoft.com/office/drawing/2014/main" id="{57C2273F-C93E-530A-7CC0-20C4DECCED03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-1" y="0"/>
            <a:ext cx="12192001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026800621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A2D9F63-7F9E-9433-BF61-47F149AE5A5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dirty="0"/>
              <a:t>Regex Usage Overview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72B65CE-BF3A-3A01-72AB-7B9B643C0112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827548" y="2226962"/>
            <a:ext cx="9223910" cy="3424107"/>
          </a:xfrm>
        </p:spPr>
        <p:txBody>
          <a:bodyPr/>
          <a:lstStyle/>
          <a:p>
            <a:pPr marL="0" indent="0">
              <a:buNone/>
            </a:pPr>
            <a:r>
              <a:rPr lang="en-US" b="1" dirty="0"/>
              <a:t>Regex is used to extract:</a:t>
            </a:r>
          </a:p>
          <a:p>
            <a:r>
              <a:rPr lang="en-US" dirty="0"/>
              <a:t>Line items &amp; prices</a:t>
            </a:r>
          </a:p>
          <a:p>
            <a:r>
              <a:rPr lang="en-US" dirty="0"/>
              <a:t>Subtotal, tax, total</a:t>
            </a:r>
          </a:p>
          <a:p>
            <a:r>
              <a:rPr lang="en-US" dirty="0"/>
              <a:t>Numeric patterns</a:t>
            </a:r>
          </a:p>
        </p:txBody>
      </p:sp>
    </p:spTree>
    <p:extLst>
      <p:ext uri="{BB962C8B-B14F-4D97-AF65-F5344CB8AC3E}">
        <p14:creationId xmlns:p14="http://schemas.microsoft.com/office/powerpoint/2010/main" val="2282361199"/>
      </p:ext>
    </p:ext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E9B0950-5CA2-EAA9-3BB3-C8FF5D52257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Line-Item Extraction Using Regex</a:t>
            </a:r>
            <a:endParaRPr lang="en-IN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7891E37-289C-9D9A-40AA-653496BB20EA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827548" y="2346311"/>
            <a:ext cx="10364452" cy="3424107"/>
          </a:xfrm>
        </p:spPr>
        <p:txBody>
          <a:bodyPr>
            <a:normAutofit fontScale="92500" lnSpcReduction="20000"/>
          </a:bodyPr>
          <a:lstStyle/>
          <a:p>
            <a:r>
              <a:rPr lang="en-US" dirty="0"/>
              <a:t>Each OCR line is scanned</a:t>
            </a:r>
          </a:p>
          <a:p>
            <a:r>
              <a:rPr lang="en-US" dirty="0"/>
              <a:t>Matches pattern:</a:t>
            </a:r>
            <a:br>
              <a:rPr lang="en-US" dirty="0"/>
            </a:br>
            <a:r>
              <a:rPr lang="en-US" b="1" dirty="0"/>
              <a:t>Item Name + Price</a:t>
            </a:r>
            <a:endParaRPr lang="en-US" dirty="0"/>
          </a:p>
          <a:p>
            <a:pPr marL="0" indent="0">
              <a:buNone/>
            </a:pPr>
            <a:r>
              <a:rPr lang="en-US" dirty="0"/>
              <a:t>Filters out:</a:t>
            </a:r>
          </a:p>
          <a:p>
            <a:pPr lvl="1"/>
            <a:r>
              <a:rPr lang="en-US" dirty="0"/>
              <a:t>Total</a:t>
            </a:r>
          </a:p>
          <a:p>
            <a:pPr lvl="1"/>
            <a:r>
              <a:rPr lang="en-US" dirty="0"/>
              <a:t>Tax</a:t>
            </a:r>
          </a:p>
          <a:p>
            <a:pPr lvl="1"/>
            <a:r>
              <a:rPr lang="en-US" dirty="0"/>
              <a:t>Subtotal</a:t>
            </a:r>
          </a:p>
          <a:p>
            <a:pPr lvl="1"/>
            <a:r>
              <a:rPr lang="en-US" dirty="0"/>
              <a:t>Service charges</a:t>
            </a:r>
          </a:p>
          <a:p>
            <a:pPr marL="0" indent="0">
              <a:buNone/>
            </a:pPr>
            <a:r>
              <a:rPr lang="en-US" b="1" dirty="0"/>
              <a:t>Result:</a:t>
            </a:r>
            <a:r>
              <a:rPr lang="en-US" dirty="0"/>
              <a:t> Clean list of purchased items</a:t>
            </a:r>
          </a:p>
          <a:p>
            <a:pPr marL="0" indent="0">
              <a:buNone/>
            </a:pPr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3740549011"/>
      </p:ext>
    </p:extLst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" name="Picture 5">
            <a:extLst>
              <a:ext uri="{FF2B5EF4-FFF2-40B4-BE49-F238E27FC236}">
                <a16:creationId xmlns:a16="http://schemas.microsoft.com/office/drawing/2014/main" id="{6FB858F2-CC94-0E93-4261-E01E48672269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192514654"/>
      </p:ext>
    </p:extLst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0BDEE16-A0F8-86C3-D836-6BEAC738D1C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dirty="0"/>
              <a:t>NLP + Regex Hybrid Approach</a:t>
            </a:r>
            <a:br>
              <a:rPr lang="en-IN" b="1" dirty="0"/>
            </a:br>
            <a:endParaRPr lang="en-IN" dirty="0"/>
          </a:p>
        </p:txBody>
      </p:sp>
      <p:graphicFrame>
        <p:nvGraphicFramePr>
          <p:cNvPr id="6" name="Content Placeholder 5">
            <a:extLst>
              <a:ext uri="{FF2B5EF4-FFF2-40B4-BE49-F238E27FC236}">
                <a16:creationId xmlns:a16="http://schemas.microsoft.com/office/drawing/2014/main" id="{6F1AB9F4-2345-F1A8-9836-B0C92CCD1C2E}"/>
              </a:ext>
            </a:extLst>
          </p:cNvPr>
          <p:cNvGraphicFramePr>
            <a:graphicFrameLocks noGrp="1"/>
          </p:cNvGraphicFramePr>
          <p:nvPr>
            <p:ph idx="1"/>
          </p:nvPr>
        </p:nvGraphicFramePr>
        <p:xfrm>
          <a:off x="3038168" y="2401730"/>
          <a:ext cx="6551423" cy="3491348"/>
        </p:xfrm>
        <a:graphic>
          <a:graphicData uri="http://schemas.openxmlformats.org/drawingml/2006/table">
            <a:tbl>
              <a:tblPr/>
              <a:tblGrid>
                <a:gridCol w="3361726">
                  <a:extLst>
                    <a:ext uri="{9D8B030D-6E8A-4147-A177-3AD203B41FA5}">
                      <a16:colId xmlns:a16="http://schemas.microsoft.com/office/drawing/2014/main" val="1345332836"/>
                    </a:ext>
                  </a:extLst>
                </a:gridCol>
                <a:gridCol w="3189697">
                  <a:extLst>
                    <a:ext uri="{9D8B030D-6E8A-4147-A177-3AD203B41FA5}">
                      <a16:colId xmlns:a16="http://schemas.microsoft.com/office/drawing/2014/main" val="3453416530"/>
                    </a:ext>
                  </a:extLst>
                </a:gridCol>
              </a:tblGrid>
              <a:tr h="872837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b="1" dirty="0"/>
                        <a:t>Regex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b="1" dirty="0"/>
                        <a:t>NLP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619480741"/>
                  </a:ext>
                </a:extLst>
              </a:tr>
              <a:tr h="872837">
                <a:tc>
                  <a:txBody>
                    <a:bodyPr/>
                    <a:lstStyle/>
                    <a:p>
                      <a:pPr marL="285750" indent="-285750">
                        <a:buFont typeface="Wingdings" panose="05000000000000000000" pitchFamily="2" charset="2"/>
                        <a:buChar char="Ø"/>
                      </a:pPr>
                      <a:r>
                        <a:rPr lang="en-IN" dirty="0"/>
                        <a:t>Precise numeric extraction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285750" indent="-285750">
                        <a:buFont typeface="Wingdings" panose="05000000000000000000" pitchFamily="2" charset="2"/>
                        <a:buChar char="Ø"/>
                      </a:pPr>
                      <a:r>
                        <a:rPr lang="en-IN" dirty="0"/>
                        <a:t>Context understanding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859674671"/>
                  </a:ext>
                </a:extLst>
              </a:tr>
              <a:tr h="872837">
                <a:tc>
                  <a:txBody>
                    <a:bodyPr/>
                    <a:lstStyle/>
                    <a:p>
                      <a:pPr marL="285750" indent="-285750">
                        <a:buFont typeface="Wingdings" panose="05000000000000000000" pitchFamily="2" charset="2"/>
                        <a:buChar char="Ø"/>
                      </a:pPr>
                      <a:r>
                        <a:rPr lang="en-IN"/>
                        <a:t>Fast &amp; deterministic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285750" indent="-285750">
                        <a:buFont typeface="Wingdings" panose="05000000000000000000" pitchFamily="2" charset="2"/>
                        <a:buChar char="Ø"/>
                      </a:pPr>
                      <a:r>
                        <a:rPr lang="en-IN" dirty="0"/>
                        <a:t>Handles OCR noise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472812666"/>
                  </a:ext>
                </a:extLst>
              </a:tr>
              <a:tr h="872837">
                <a:tc>
                  <a:txBody>
                    <a:bodyPr/>
                    <a:lstStyle/>
                    <a:p>
                      <a:pPr marL="285750" indent="-285750">
                        <a:buFont typeface="Wingdings" panose="05000000000000000000" pitchFamily="2" charset="2"/>
                        <a:buChar char="Ø"/>
                      </a:pPr>
                      <a:r>
                        <a:rPr lang="en-IN" dirty="0"/>
                        <a:t>Item-price parsing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285750" indent="-285750">
                        <a:buFont typeface="Wingdings" panose="05000000000000000000" pitchFamily="2" charset="2"/>
                        <a:buChar char="Ø"/>
                      </a:pPr>
                      <a:r>
                        <a:rPr lang="en-IN" dirty="0"/>
                        <a:t>Date &amp; store detection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23058387"/>
                  </a:ext>
                </a:extLst>
              </a:tr>
            </a:tbl>
          </a:graphicData>
        </a:graphic>
      </p:graphicFrame>
      <p:sp>
        <p:nvSpPr>
          <p:cNvPr id="7" name="Rectangle 2">
            <a:extLst>
              <a:ext uri="{FF2B5EF4-FFF2-40B4-BE49-F238E27FC236}">
                <a16:creationId xmlns:a16="http://schemas.microsoft.com/office/drawing/2014/main" id="{AA18D8AF-23E3-2994-2E3C-CE1DB6B7E915}"/>
              </a:ext>
            </a:extLst>
          </p:cNvPr>
          <p:cNvSpPr>
            <a:spLocks noChangeArrowheads="1"/>
          </p:cNvSpPr>
          <p:nvPr/>
        </p:nvSpPr>
        <p:spPr bwMode="auto">
          <a:xfrm>
            <a:off x="1506088" y="1891528"/>
            <a:ext cx="3183486" cy="646331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altLang="en-US" sz="18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Why combine both?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altLang="en-US" sz="1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913121974"/>
      </p:ext>
    </p:extLst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4AAFAA1-D800-02CA-3BAF-6A1B1C57E6E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913774" y="167349"/>
            <a:ext cx="10364451" cy="1596177"/>
          </a:xfrm>
        </p:spPr>
        <p:txBody>
          <a:bodyPr/>
          <a:lstStyle/>
          <a:p>
            <a:r>
              <a:rPr lang="en-IN" dirty="0"/>
              <a:t>Extracted Fields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848AEDA-8197-D48B-1CEE-5C8134E88F2F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2212638" y="1842184"/>
            <a:ext cx="8188662" cy="4329590"/>
          </a:xfrm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en-US" sz="1900" b="1" dirty="0"/>
              <a:t>The system extracts:</a:t>
            </a:r>
          </a:p>
          <a:p>
            <a:r>
              <a:rPr lang="en-US" sz="1900" dirty="0"/>
              <a:t>Store name</a:t>
            </a:r>
          </a:p>
          <a:p>
            <a:r>
              <a:rPr lang="en-US" sz="1900" dirty="0"/>
              <a:t>Date</a:t>
            </a:r>
          </a:p>
          <a:p>
            <a:r>
              <a:rPr lang="en-US" sz="1900" dirty="0"/>
              <a:t>Time</a:t>
            </a:r>
          </a:p>
          <a:p>
            <a:r>
              <a:rPr lang="en-US" sz="1900" dirty="0"/>
              <a:t>Payment mode</a:t>
            </a:r>
          </a:p>
          <a:p>
            <a:r>
              <a:rPr lang="en-US" sz="1900" dirty="0"/>
              <a:t>Items list</a:t>
            </a:r>
          </a:p>
          <a:p>
            <a:r>
              <a:rPr lang="en-US" sz="1900" dirty="0"/>
              <a:t>Subtotal</a:t>
            </a:r>
          </a:p>
          <a:p>
            <a:r>
              <a:rPr lang="en-US" sz="1900" dirty="0"/>
              <a:t>Tax</a:t>
            </a:r>
          </a:p>
          <a:p>
            <a:r>
              <a:rPr lang="en-US" sz="1900" dirty="0"/>
              <a:t>Total</a:t>
            </a:r>
          </a:p>
          <a:p>
            <a:endParaRPr lang="en-US" sz="4000" dirty="0"/>
          </a:p>
          <a:p>
            <a:endParaRPr lang="en-US" sz="4000" dirty="0"/>
          </a:p>
          <a:p>
            <a:pPr marL="0" indent="0">
              <a:buNone/>
            </a:pPr>
            <a:endParaRPr lang="en-US" dirty="0"/>
          </a:p>
          <a:p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3871400308"/>
      </p:ext>
    </p:extLst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6125BE3-21F5-1E5B-C980-0000E5DB6CC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dirty="0"/>
              <a:t>Validation Layer Overview</a:t>
            </a:r>
          </a:p>
        </p:txBody>
      </p:sp>
      <p:sp>
        <p:nvSpPr>
          <p:cNvPr id="4" name="Rectangle 1">
            <a:extLst>
              <a:ext uri="{FF2B5EF4-FFF2-40B4-BE49-F238E27FC236}">
                <a16:creationId xmlns:a16="http://schemas.microsoft.com/office/drawing/2014/main" id="{01CB0F3D-8ADA-A9D7-4FDD-005264577DC0}"/>
              </a:ext>
            </a:extLst>
          </p:cNvPr>
          <p:cNvSpPr>
            <a:spLocks noGrp="1" noChangeArrowheads="1"/>
          </p:cNvSpPr>
          <p:nvPr>
            <p:ph idx="1"/>
          </p:nvPr>
        </p:nvSpPr>
        <p:spPr bwMode="auto">
          <a:xfrm>
            <a:off x="2325552" y="2313310"/>
            <a:ext cx="7836758" cy="223138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indent="0">
              <a:buNone/>
            </a:pPr>
            <a:r>
              <a:rPr lang="en-US" b="1" dirty="0"/>
              <a:t>Validation ensures:</a:t>
            </a:r>
          </a:p>
          <a:p>
            <a:r>
              <a:rPr lang="en-US" dirty="0"/>
              <a:t>Financial correctness</a:t>
            </a:r>
          </a:p>
          <a:p>
            <a:r>
              <a:rPr lang="en-US" dirty="0"/>
              <a:t>Data completeness</a:t>
            </a:r>
          </a:p>
          <a:p>
            <a:r>
              <a:rPr lang="en-US" dirty="0"/>
              <a:t>Reliability before storage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altLang="en-US" sz="1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439201639"/>
      </p:ext>
    </p:extLst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D404244-EEBC-6C60-69D0-3BE1424FE15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dirty="0">
                <a:latin typeface="+mn-lt"/>
              </a:rPr>
              <a:t>Duplicate Detection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63F601E-5917-2BB8-E93D-BD9F3723B19E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256675" y="2325530"/>
            <a:ext cx="10364452" cy="3424107"/>
          </a:xfrm>
        </p:spPr>
        <p:txBody>
          <a:bodyPr>
            <a:normAutofit/>
          </a:bodyPr>
          <a:lstStyle/>
          <a:p>
            <a:r>
              <a:rPr lang="en-US" dirty="0"/>
              <a:t>Each receipt file name is checked</a:t>
            </a:r>
          </a:p>
          <a:p>
            <a:r>
              <a:rPr lang="en-US" dirty="0"/>
              <a:t>SQLite query verifies existence</a:t>
            </a:r>
          </a:p>
          <a:p>
            <a:r>
              <a:rPr lang="en-US" dirty="0"/>
              <a:t>Prevents duplicate storage</a:t>
            </a:r>
          </a:p>
          <a:p>
            <a:pPr marL="0" indent="0">
              <a:buNone/>
            </a:pPr>
            <a:r>
              <a:rPr lang="en-US" b="1" dirty="0"/>
              <a:t>User feedback:</a:t>
            </a:r>
          </a:p>
          <a:p>
            <a:pPr marL="0" indent="0">
              <a:buNone/>
            </a:pPr>
            <a:r>
              <a:rPr lang="en-US" dirty="0"/>
              <a:t> “Receipt already exists in database”</a:t>
            </a:r>
          </a:p>
          <a:p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2963047707"/>
      </p:ext>
    </p:extLst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2EFA139-A87F-26DF-9ADC-EF92A210DE3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dirty="0"/>
              <a:t>Required Fields Validation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12A4EA0-A4AB-FD2D-5644-AA2162C9AAED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329412" y="2214694"/>
            <a:ext cx="10364452" cy="3424107"/>
          </a:xfrm>
        </p:spPr>
        <p:txBody>
          <a:bodyPr/>
          <a:lstStyle/>
          <a:p>
            <a:pPr marL="0" indent="0">
              <a:buNone/>
            </a:pPr>
            <a:r>
              <a:rPr lang="en-US" b="1" dirty="0"/>
              <a:t>Checks presence of:</a:t>
            </a:r>
          </a:p>
          <a:p>
            <a:r>
              <a:rPr lang="en-US" dirty="0"/>
              <a:t>Store</a:t>
            </a:r>
          </a:p>
          <a:p>
            <a:r>
              <a:rPr lang="en-US" dirty="0"/>
              <a:t>Items</a:t>
            </a:r>
          </a:p>
          <a:p>
            <a:r>
              <a:rPr lang="en-US" dirty="0"/>
              <a:t>Subtotal</a:t>
            </a:r>
          </a:p>
          <a:p>
            <a:r>
              <a:rPr lang="en-US" dirty="0"/>
              <a:t>Total</a:t>
            </a:r>
          </a:p>
          <a:p>
            <a:r>
              <a:rPr lang="en-US" dirty="0"/>
              <a:t>Prevents saving incomplete receipts</a:t>
            </a:r>
          </a:p>
        </p:txBody>
      </p:sp>
    </p:spTree>
    <p:extLst>
      <p:ext uri="{BB962C8B-B14F-4D97-AF65-F5344CB8AC3E}">
        <p14:creationId xmlns:p14="http://schemas.microsoft.com/office/powerpoint/2010/main" val="2573597678"/>
      </p:ext>
    </p:extLst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E5B40B1-8780-99C7-9BC2-EC8C3C8938A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913774" y="293116"/>
            <a:ext cx="10364451" cy="1596177"/>
          </a:xfrm>
        </p:spPr>
        <p:txBody>
          <a:bodyPr/>
          <a:lstStyle/>
          <a:p>
            <a:r>
              <a:rPr lang="en-IN" dirty="0"/>
              <a:t>Database Design</a:t>
            </a:r>
            <a:br>
              <a:rPr lang="en-IN" b="1" dirty="0"/>
            </a:br>
            <a:endParaRPr lang="en-IN" dirty="0"/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32DAB3ED-30DB-9BB0-6DBF-934DD8AA91C3}"/>
              </a:ext>
            </a:extLst>
          </p:cNvPr>
          <p:cNvSpPr txBox="1"/>
          <p:nvPr/>
        </p:nvSpPr>
        <p:spPr>
          <a:xfrm>
            <a:off x="2724956" y="1905467"/>
            <a:ext cx="3489941" cy="465941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ct val="150000"/>
              </a:lnSpc>
            </a:pPr>
            <a:r>
              <a:rPr lang="en-US" sz="2000" b="1" dirty="0"/>
              <a:t>receipts</a:t>
            </a:r>
          </a:p>
          <a:p>
            <a:pPr marL="342900" indent="-34290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sz="2000" dirty="0"/>
              <a:t>id</a:t>
            </a:r>
          </a:p>
          <a:p>
            <a:pPr marL="342900" indent="-34290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sz="2000" dirty="0"/>
              <a:t>filename</a:t>
            </a:r>
          </a:p>
          <a:p>
            <a:pPr marL="342900" indent="-34290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sz="2000" dirty="0"/>
              <a:t>store</a:t>
            </a:r>
          </a:p>
          <a:p>
            <a:pPr marL="342900" indent="-34290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sz="2000" dirty="0"/>
              <a:t>date</a:t>
            </a:r>
          </a:p>
          <a:p>
            <a:pPr marL="342900" indent="-34290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sz="2000" dirty="0"/>
              <a:t>subtotal</a:t>
            </a:r>
          </a:p>
          <a:p>
            <a:pPr marL="342900" indent="-34290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sz="2000" dirty="0"/>
              <a:t>tax</a:t>
            </a:r>
          </a:p>
          <a:p>
            <a:pPr marL="342900" indent="-34290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sz="2000" dirty="0"/>
              <a:t>total</a:t>
            </a:r>
          </a:p>
          <a:p>
            <a:pPr marL="342900" indent="-34290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sz="2000" dirty="0"/>
              <a:t>payment</a:t>
            </a:r>
          </a:p>
          <a:p>
            <a:pPr marL="342900" indent="-34290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sz="2000" dirty="0"/>
              <a:t>uploaded_at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BA8D10DF-8C7F-B6B5-9323-26BDD181A55F}"/>
              </a:ext>
            </a:extLst>
          </p:cNvPr>
          <p:cNvSpPr txBox="1"/>
          <p:nvPr/>
        </p:nvSpPr>
        <p:spPr>
          <a:xfrm>
            <a:off x="6283723" y="1905467"/>
            <a:ext cx="4582391" cy="188942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ct val="150000"/>
              </a:lnSpc>
            </a:pPr>
            <a:r>
              <a:rPr lang="en-US" sz="2000" b="1" dirty="0"/>
              <a:t>receipt_items</a:t>
            </a:r>
          </a:p>
          <a:p>
            <a:pPr marL="342900" indent="-34290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sz="2000" dirty="0"/>
              <a:t>receipt_id</a:t>
            </a:r>
          </a:p>
          <a:p>
            <a:pPr marL="342900" indent="-34290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sz="2000" dirty="0"/>
              <a:t>item_name</a:t>
            </a:r>
          </a:p>
          <a:p>
            <a:pPr marL="342900" indent="-34290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sz="2000" dirty="0"/>
              <a:t>price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DDCF8C87-5B71-9798-C857-C1991408066F}"/>
              </a:ext>
            </a:extLst>
          </p:cNvPr>
          <p:cNvSpPr txBox="1"/>
          <p:nvPr/>
        </p:nvSpPr>
        <p:spPr>
          <a:xfrm>
            <a:off x="1933826" y="1389156"/>
            <a:ext cx="2254827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000" b="1" dirty="0"/>
              <a:t>Two tables used:</a:t>
            </a:r>
          </a:p>
        </p:txBody>
      </p:sp>
    </p:spTree>
    <p:extLst>
      <p:ext uri="{BB962C8B-B14F-4D97-AF65-F5344CB8AC3E}">
        <p14:creationId xmlns:p14="http://schemas.microsoft.com/office/powerpoint/2010/main" val="130888354"/>
      </p:ext>
    </p:extLst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70C7F2C-A560-22B7-B6DB-04146805A67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dirty="0"/>
              <a:t>Database Storage Workflow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39FD644-0D4E-63E3-968D-D8BB8F1630BE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Insert receipt metadata</a:t>
            </a:r>
          </a:p>
          <a:p>
            <a:r>
              <a:rPr lang="en-US" dirty="0"/>
              <a:t>Get receipt_id</a:t>
            </a:r>
          </a:p>
          <a:p>
            <a:r>
              <a:rPr lang="en-US" dirty="0"/>
              <a:t>Insert items linked to receipt_id</a:t>
            </a:r>
          </a:p>
          <a:p>
            <a:r>
              <a:rPr lang="en-US" dirty="0"/>
              <a:t>Ensures </a:t>
            </a:r>
            <a:r>
              <a:rPr lang="en-US" b="1" dirty="0"/>
              <a:t>normalized data storage</a:t>
            </a:r>
            <a:endParaRPr lang="en-US" dirty="0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7BAD7320-1E95-50B2-33F7-C7884B345F95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573660" y="1661651"/>
            <a:ext cx="6520017" cy="434667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73113080"/>
      </p:ext>
    </p:extLst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CC63D68-6CA2-14D6-CF26-EF50F291CA6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dirty="0"/>
              <a:t>Error Handling</a:t>
            </a:r>
          </a:p>
        </p:txBody>
      </p:sp>
      <p:sp>
        <p:nvSpPr>
          <p:cNvPr id="4" name="Rectangle 1">
            <a:extLst>
              <a:ext uri="{FF2B5EF4-FFF2-40B4-BE49-F238E27FC236}">
                <a16:creationId xmlns:a16="http://schemas.microsoft.com/office/drawing/2014/main" id="{8C3C746C-AD7C-6914-53D1-E2AFDCEA5FF0}"/>
              </a:ext>
            </a:extLst>
          </p:cNvPr>
          <p:cNvSpPr>
            <a:spLocks noGrp="1" noChangeArrowheads="1"/>
          </p:cNvSpPr>
          <p:nvPr>
            <p:ph idx="1"/>
          </p:nvPr>
        </p:nvSpPr>
        <p:spPr bwMode="auto">
          <a:xfrm>
            <a:off x="1779014" y="2214694"/>
            <a:ext cx="4499309" cy="2923044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indent="0">
              <a:buNone/>
            </a:pPr>
            <a:r>
              <a:rPr lang="en-US" b="1" dirty="0"/>
              <a:t>Handled cases:</a:t>
            </a:r>
          </a:p>
          <a:p>
            <a:r>
              <a:rPr lang="en-US" dirty="0"/>
              <a:t>Empty OCR output</a:t>
            </a:r>
          </a:p>
          <a:p>
            <a:r>
              <a:rPr lang="en-US" dirty="0"/>
              <a:t>Invalid totals</a:t>
            </a:r>
          </a:p>
          <a:p>
            <a:r>
              <a:rPr lang="en-US" dirty="0"/>
              <a:t>Missing fields</a:t>
            </a:r>
          </a:p>
          <a:p>
            <a:r>
              <a:rPr lang="en-US" dirty="0"/>
              <a:t>Duplicate files</a:t>
            </a:r>
          </a:p>
          <a:p>
            <a:pPr>
              <a:buFont typeface="Wingdings" panose="05000000000000000000" pitchFamily="2" charset="2"/>
              <a:buChar char="ü"/>
            </a:pPr>
            <a:r>
              <a:rPr lang="en-US" dirty="0"/>
              <a:t>All errors shown via </a:t>
            </a:r>
            <a:r>
              <a:rPr lang="en-US" b="1" dirty="0"/>
              <a:t>UI banners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994034704"/>
      </p:ext>
    </p:extLst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27E6BE4-D8FB-76ED-1EE7-50A39D6873E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dirty="0"/>
              <a:t>Output After Milestone 2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21C4615-81F7-EF91-934A-A8347DFBE55E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326730" y="2317933"/>
            <a:ext cx="10364452" cy="3424107"/>
          </a:xfrm>
        </p:spPr>
        <p:txBody>
          <a:bodyPr/>
          <a:lstStyle/>
          <a:p>
            <a:pPr marL="0" indent="0">
              <a:buNone/>
            </a:pPr>
            <a:r>
              <a:rPr lang="en-US" b="1" dirty="0"/>
              <a:t>User can:</a:t>
            </a:r>
          </a:p>
          <a:p>
            <a:pPr>
              <a:buFont typeface="Wingdings" panose="05000000000000000000" pitchFamily="2" charset="2"/>
              <a:buChar char="ü"/>
            </a:pPr>
            <a:r>
              <a:rPr lang="en-US" dirty="0"/>
              <a:t>View extracted receipt</a:t>
            </a:r>
          </a:p>
          <a:p>
            <a:pPr>
              <a:buFont typeface="Wingdings" panose="05000000000000000000" pitchFamily="2" charset="2"/>
              <a:buChar char="ü"/>
            </a:pPr>
            <a:r>
              <a:rPr lang="en-US" dirty="0"/>
              <a:t>See validation banners</a:t>
            </a:r>
          </a:p>
          <a:p>
            <a:pPr>
              <a:buFont typeface="Wingdings" panose="05000000000000000000" pitchFamily="2" charset="2"/>
              <a:buChar char="ü"/>
            </a:pPr>
            <a:r>
              <a:rPr lang="en-US" dirty="0"/>
              <a:t>Save only valid data</a:t>
            </a:r>
          </a:p>
          <a:p>
            <a:pPr>
              <a:buFont typeface="Wingdings" panose="05000000000000000000" pitchFamily="2" charset="2"/>
              <a:buChar char="ü"/>
            </a:pPr>
            <a:r>
              <a:rPr lang="en-US" dirty="0"/>
              <a:t>View stored items late</a:t>
            </a:r>
          </a:p>
        </p:txBody>
      </p:sp>
    </p:spTree>
    <p:extLst>
      <p:ext uri="{BB962C8B-B14F-4D97-AF65-F5344CB8AC3E}">
        <p14:creationId xmlns:p14="http://schemas.microsoft.com/office/powerpoint/2010/main" val="3511550143"/>
      </p:ext>
    </p:extLst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13E3C3B-2696-5AA7-84FE-2E722622308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dirty="0"/>
              <a:t>Conclusion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B955A4A-CCA6-DB0B-32BC-03A28C709039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179246" y="2357260"/>
            <a:ext cx="10364452" cy="3424107"/>
          </a:xfrm>
        </p:spPr>
        <p:txBody>
          <a:bodyPr/>
          <a:lstStyle/>
          <a:p>
            <a:pPr marL="0" indent="0">
              <a:buNone/>
            </a:pPr>
            <a:r>
              <a:rPr lang="en-US" dirty="0"/>
              <a:t>Milestone 2 successfully:</a:t>
            </a:r>
          </a:p>
          <a:p>
            <a:pPr>
              <a:buFont typeface="Wingdings" panose="05000000000000000000" pitchFamily="2" charset="2"/>
              <a:buChar char="ü"/>
            </a:pPr>
            <a:r>
              <a:rPr lang="en-US" dirty="0"/>
              <a:t>Converts OCR text into structured data</a:t>
            </a:r>
          </a:p>
          <a:p>
            <a:pPr>
              <a:buFont typeface="Wingdings" panose="05000000000000000000" pitchFamily="2" charset="2"/>
              <a:buChar char="ü"/>
            </a:pPr>
            <a:r>
              <a:rPr lang="en-US" dirty="0"/>
              <a:t>Applies intelligent validation</a:t>
            </a:r>
          </a:p>
          <a:p>
            <a:pPr>
              <a:buFont typeface="Wingdings" panose="05000000000000000000" pitchFamily="2" charset="2"/>
              <a:buChar char="ü"/>
            </a:pPr>
            <a:r>
              <a:rPr lang="en-US" dirty="0"/>
              <a:t>Stores clean, reliable records</a:t>
            </a:r>
          </a:p>
          <a:p>
            <a:pPr>
              <a:buFont typeface="Wingdings" panose="05000000000000000000" pitchFamily="2" charset="2"/>
              <a:buChar char="ü"/>
            </a:pPr>
            <a:r>
              <a:rPr lang="en-US" dirty="0"/>
              <a:t>Prepares system for analytics (Milestone 3)</a:t>
            </a:r>
          </a:p>
        </p:txBody>
      </p:sp>
    </p:spTree>
    <p:extLst>
      <p:ext uri="{BB962C8B-B14F-4D97-AF65-F5344CB8AC3E}">
        <p14:creationId xmlns:p14="http://schemas.microsoft.com/office/powerpoint/2010/main" val="3445191348"/>
      </p:ext>
    </p:extLst>
  </p:cSld>
  <p:clrMapOvr>
    <a:masterClrMapping/>
  </p:clrMapOvr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49FC8E0-9764-7B6C-0989-42F305CF662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913774" y="2191678"/>
            <a:ext cx="10364451" cy="1596177"/>
          </a:xfrm>
        </p:spPr>
        <p:txBody>
          <a:bodyPr>
            <a:normAutofit/>
          </a:bodyPr>
          <a:lstStyle/>
          <a:p>
            <a:r>
              <a:rPr lang="en-IN" sz="4800" dirty="0"/>
              <a:t>Thank YOU</a:t>
            </a:r>
          </a:p>
        </p:txBody>
      </p:sp>
    </p:spTree>
    <p:extLst>
      <p:ext uri="{BB962C8B-B14F-4D97-AF65-F5344CB8AC3E}">
        <p14:creationId xmlns:p14="http://schemas.microsoft.com/office/powerpoint/2010/main" val="2560709258"/>
      </p:ext>
    </p:extLst>
  </p:cSld>
  <p:clrMapOvr>
    <a:masterClrMapping/>
  </p:clrMapOvr>
</p:sld>
</file>

<file path=ppt/theme/theme1.xml><?xml version="1.0" encoding="utf-8"?>
<a:theme xmlns:a="http://schemas.openxmlformats.org/drawingml/2006/main" name="Droplet">
  <a:themeElements>
    <a:clrScheme name="Office 2007 - 2010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Droplet">
      <a:majorFont>
        <a:latin typeface="Tw Cen MT" panose="020B0602020104020603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Tw Cen MT" panose="020B0602020104020603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Droplet">
      <a:fillStyleLst>
        <a:solidFill>
          <a:schemeClr val="phClr"/>
        </a:solidFill>
        <a:solidFill>
          <a:schemeClr val="phClr">
            <a:tint val="69000"/>
            <a:satMod val="105000"/>
            <a:lumMod val="110000"/>
          </a:schemeClr>
        </a:solidFill>
        <a:gradFill rotWithShape="1">
          <a:gsLst>
            <a:gs pos="0">
              <a:schemeClr val="phClr">
                <a:tint val="94000"/>
                <a:satMod val="100000"/>
                <a:lumMod val="108000"/>
              </a:schemeClr>
            </a:gs>
            <a:gs pos="50000">
              <a:schemeClr val="phClr">
                <a:tint val="98000"/>
                <a:shade val="100000"/>
                <a:satMod val="100000"/>
                <a:lumMod val="100000"/>
              </a:schemeClr>
            </a:gs>
            <a:gs pos="100000">
              <a:schemeClr val="phClr">
                <a:shade val="72000"/>
                <a:satMod val="120000"/>
                <a:lumMod val="100000"/>
              </a:schemeClr>
            </a:gs>
          </a:gsLst>
          <a:lin ang="5400000" scaled="0"/>
        </a:gradFill>
      </a:fillStyleLst>
      <a:lnStyleLst>
        <a:ln w="9525" cap="flat" cmpd="sng" algn="ctr">
          <a:solidFill>
            <a:schemeClr val="phClr">
              <a:shade val="60000"/>
            </a:schemeClr>
          </a:solidFill>
          <a:prstDash val="solid"/>
        </a:ln>
        <a:ln w="15875" cap="flat" cmpd="sng" algn="ctr">
          <a:solidFill>
            <a:schemeClr val="phClr"/>
          </a:solidFill>
          <a:prstDash val="solid"/>
        </a:ln>
        <a:ln w="22225" cap="flat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>
            <a:outerShdw blurRad="50800" dist="25400" dir="5400000" rotWithShape="0">
              <a:srgbClr val="000000">
                <a:alpha val="28000"/>
              </a:srgbClr>
            </a:outerShdw>
          </a:effectLst>
        </a:effectStyle>
        <a:effectStyle>
          <a:effectLst>
            <a:outerShdw blurRad="63500" dist="25400" dir="5400000" algn="ctr" rotWithShape="0">
              <a:srgbClr val="000000">
                <a:alpha val="69000"/>
              </a:srgbClr>
            </a:outerShdw>
          </a:effectLst>
          <a:scene3d>
            <a:camera prst="orthographicFront">
              <a:rot lat="0" lon="0" rev="0"/>
            </a:camera>
            <a:lightRig rig="balanced" dir="t">
              <a:rot lat="0" lon="0" rev="1200000"/>
            </a:lightRig>
          </a:scene3d>
          <a:sp3d prstMaterial="plastic">
            <a:bevelT w="254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90000"/>
                <a:lumMod val="110000"/>
              </a:schemeClr>
            </a:gs>
            <a:gs pos="100000">
              <a:schemeClr val="phClr">
                <a:shade val="64000"/>
                <a:lumMod val="88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84000"/>
                <a:shade val="100000"/>
                <a:hueMod val="130000"/>
                <a:satMod val="150000"/>
                <a:lumMod val="112000"/>
              </a:schemeClr>
            </a:gs>
            <a:gs pos="100000">
              <a:schemeClr val="phClr">
                <a:shade val="92000"/>
                <a:satMod val="140000"/>
                <a:lumMod val="11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Droplet" id="{8984A317-299A-4E50-B45D-BFC9EDE2337A}" vid="{A633B6A3-9E7F-4C10-9C98-2517A3134361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Droplet</Template>
  <TotalTime>104</TotalTime>
  <Words>707</Words>
  <Application>Microsoft Office PowerPoint</Application>
  <PresentationFormat>Widescreen</PresentationFormat>
  <Paragraphs>210</Paragraphs>
  <Slides>34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34</vt:i4>
      </vt:variant>
    </vt:vector>
  </HeadingPairs>
  <TitlesOfParts>
    <vt:vector size="38" baseType="lpstr">
      <vt:lpstr>Arial</vt:lpstr>
      <vt:lpstr>Tw Cen MT</vt:lpstr>
      <vt:lpstr>Wingdings</vt:lpstr>
      <vt:lpstr>Droplet</vt:lpstr>
      <vt:lpstr>Receipt &amp; Invoice Digitizer (MydigiBill)</vt:lpstr>
      <vt:lpstr>Problem Statement</vt:lpstr>
      <vt:lpstr>Project Overview</vt:lpstr>
      <vt:lpstr>Objective</vt:lpstr>
      <vt:lpstr>Milestone-1 Scope</vt:lpstr>
      <vt:lpstr>System Architecture</vt:lpstr>
      <vt:lpstr>File Upload Module</vt:lpstr>
      <vt:lpstr>PDF to Image Conversion </vt:lpstr>
      <vt:lpstr>Importance of Image Preprocessing</vt:lpstr>
      <vt:lpstr>OCR Engine: Tesseract</vt:lpstr>
      <vt:lpstr>OCR Output Example</vt:lpstr>
      <vt:lpstr>Introduction to Ollama (Local AI)</vt:lpstr>
      <vt:lpstr>Ollama Working Procedure</vt:lpstr>
      <vt:lpstr>Why Local AI (Ollama)? </vt:lpstr>
      <vt:lpstr>Challenges Faced</vt:lpstr>
      <vt:lpstr>Results &amp; Observations</vt:lpstr>
      <vt:lpstr>Milestone-1 Completion Status</vt:lpstr>
      <vt:lpstr>Conclusion</vt:lpstr>
      <vt:lpstr>Milestone 2 Objectives</vt:lpstr>
      <vt:lpstr>PowerPoint Presentation</vt:lpstr>
      <vt:lpstr>Regex Usage Overview</vt:lpstr>
      <vt:lpstr>Line-Item Extraction Using Regex</vt:lpstr>
      <vt:lpstr>PowerPoint Presentation</vt:lpstr>
      <vt:lpstr>NLP + Regex Hybrid Approach </vt:lpstr>
      <vt:lpstr>Extracted Fields</vt:lpstr>
      <vt:lpstr>Validation Layer Overview</vt:lpstr>
      <vt:lpstr>Duplicate Detection</vt:lpstr>
      <vt:lpstr>Required Fields Validation</vt:lpstr>
      <vt:lpstr>Database Design </vt:lpstr>
      <vt:lpstr>Database Storage Workflow</vt:lpstr>
      <vt:lpstr>Error Handling</vt:lpstr>
      <vt:lpstr>Output After Milestone 2</vt:lpstr>
      <vt:lpstr>Conclusion</vt:lpstr>
      <vt:lpstr>Thank YOU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Goutham Mourya</dc:creator>
  <cp:lastModifiedBy>Goutham Mourya</cp:lastModifiedBy>
  <cp:revision>6</cp:revision>
  <dcterms:created xsi:type="dcterms:W3CDTF">2026-01-14T12:24:04Z</dcterms:created>
  <dcterms:modified xsi:type="dcterms:W3CDTF">2026-01-30T12:13:49Z</dcterms:modified>
</cp:coreProperties>
</file>